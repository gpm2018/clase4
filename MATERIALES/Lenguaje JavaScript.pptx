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6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ervisión de Apoyo Técnico Pedagógico 03-16 Cordillera - Arroyos y Esteros" userId="456837f3-4161-4298-914d-3679e6e4eaa8" providerId="ADAL" clId="{677ACE2A-DCC8-4FE1-98FC-540C2DD3BF43}"/>
    <pc:docChg chg="modSld">
      <pc:chgData name="Supervisión de Apoyo Técnico Pedagógico 03-16 Cordillera - Arroyos y Esteros" userId="456837f3-4161-4298-914d-3679e6e4eaa8" providerId="ADAL" clId="{677ACE2A-DCC8-4FE1-98FC-540C2DD3BF43}" dt="2026-05-02T14:48:08.838" v="3" actId="1036"/>
      <pc:docMkLst>
        <pc:docMk/>
      </pc:docMkLst>
      <pc:sldChg chg="modSp mod">
        <pc:chgData name="Supervisión de Apoyo Técnico Pedagógico 03-16 Cordillera - Arroyos y Esteros" userId="456837f3-4161-4298-914d-3679e6e4eaa8" providerId="ADAL" clId="{677ACE2A-DCC8-4FE1-98FC-540C2DD3BF43}" dt="2026-05-02T14:23:51.700" v="2" actId="1036"/>
        <pc:sldMkLst>
          <pc:docMk/>
          <pc:sldMk cId="0" sldId="278"/>
        </pc:sldMkLst>
        <pc:spChg chg="mod">
          <ac:chgData name="Supervisión de Apoyo Técnico Pedagógico 03-16 Cordillera - Arroyos y Esteros" userId="456837f3-4161-4298-914d-3679e6e4eaa8" providerId="ADAL" clId="{677ACE2A-DCC8-4FE1-98FC-540C2DD3BF43}" dt="2026-05-02T14:23:51.700" v="2" actId="1036"/>
          <ac:spMkLst>
            <pc:docMk/>
            <pc:sldMk cId="0" sldId="278"/>
            <ac:spMk id="200" creationId="{00000000-0000-0000-0000-000000000000}"/>
          </ac:spMkLst>
        </pc:spChg>
      </pc:sldChg>
      <pc:sldChg chg="modSp mod">
        <pc:chgData name="Supervisión de Apoyo Técnico Pedagógico 03-16 Cordillera - Arroyos y Esteros" userId="456837f3-4161-4298-914d-3679e6e4eaa8" providerId="ADAL" clId="{677ACE2A-DCC8-4FE1-98FC-540C2DD3BF43}" dt="2026-05-02T14:48:08.838" v="3" actId="1036"/>
        <pc:sldMkLst>
          <pc:docMk/>
          <pc:sldMk cId="0" sldId="287"/>
        </pc:sldMkLst>
        <pc:spChg chg="mod">
          <ac:chgData name="Supervisión de Apoyo Técnico Pedagógico 03-16 Cordillera - Arroyos y Esteros" userId="456837f3-4161-4298-914d-3679e6e4eaa8" providerId="ADAL" clId="{677ACE2A-DCC8-4FE1-98FC-540C2DD3BF43}" dt="2026-05-02T14:48:08.838" v="3" actId="1036"/>
          <ac:spMkLst>
            <pc:docMk/>
            <pc:sldMk cId="0" sldId="287"/>
            <ac:spMk id="25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90c4b22a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90c4b22a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40fa5821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40fa5821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24c054f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24c054f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90c4b22a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390c4b22a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90c4b22a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90c4b22a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90c4b22a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90c4b22ae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8df8cdf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8df8cdf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90c4b22a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90c4b22a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90c4b22ae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90c4b22ae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8df8cdf4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8df8cdf4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443219e4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443219e4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90c4b22ae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390c4b22ae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6443219e4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6443219e4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90c4b22ae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390c4b22ae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dfd63f1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dfd63f1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24c054f3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24c054f3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58022025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58022025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8022025e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8022025e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8022025e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58022025e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8022025e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8022025e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8022025e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8022025e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8022025e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58022025e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8022025e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58022025e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8022025e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58022025e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58022025e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58022025e5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8022025e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8022025e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4905bb5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4905bb5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8022025e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58022025e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8022025e5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58022025e5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8022025e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58022025e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022025e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58022025e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58022025e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58022025e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8022025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58022025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8022025e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58022025e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4905bb54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4905bb54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58022025e5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58022025e5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58022025e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58022025e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8df8cdf4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8df8cdf4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f578b5a7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f578b5a7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2400">
                <a:solidFill>
                  <a:srgbClr val="000000"/>
                </a:solidFill>
              </a:defRPr>
            </a:lvl1pPr>
            <a:lvl2pPr marL="914400" lvl="1" indent="-381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 sz="2400"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6662058" y="4446667"/>
            <a:ext cx="2508020" cy="706541"/>
            <a:chOff x="6533328" y="4151184"/>
            <a:chExt cx="2610617" cy="740531"/>
          </a:xfrm>
        </p:grpSpPr>
        <p:sp>
          <p:nvSpPr>
            <p:cNvPr id="23" name="Google Shape;23;p3"/>
            <p:cNvSpPr/>
            <p:nvPr/>
          </p:nvSpPr>
          <p:spPr>
            <a:xfrm>
              <a:off x="8272445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533328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404838" y="4151316"/>
              <a:ext cx="871500" cy="74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10800000">
              <a:off x="8272377" y="4151184"/>
              <a:ext cx="871500" cy="740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3"/>
          <p:cNvGrpSpPr/>
          <p:nvPr/>
        </p:nvGrpSpPr>
        <p:grpSpPr>
          <a:xfrm>
            <a:off x="-51" y="-9166"/>
            <a:ext cx="9144142" cy="983316"/>
            <a:chOff x="-13" y="-12188"/>
            <a:chExt cx="8005728" cy="1161900"/>
          </a:xfrm>
        </p:grpSpPr>
        <p:sp>
          <p:nvSpPr>
            <p:cNvPr id="28" name="Google Shape;28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AB01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0F24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rgbClr val="FFFFFF"/>
                </a:solidFill>
              </a:endParaRPr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None/>
              <a:defRPr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C9PO0wxmnBLd2Lua1XbcAGvJQJeaPSLMUlzKWsCdlRo/edit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scrip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intro_inner_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intro_lightbul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intro_styl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38ds5hrz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intro_hid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intro_sho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38dsnrt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whereto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safiolatam.com/javascript-en-el-head-o-en-el-cierre-del-body-estas-equivocad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/tryit.asp?filename=tryjs_whereto_body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whereto_externa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38dsvzs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iegoboscan.com/usar-punto-y-coma-en-javascript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output_d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output_writ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output_alert2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/tryit.asp?filename=tryjs_output_consol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output_prin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statements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espanol/news/var-let-y-const-cual-es-la-diferencia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/tryit.asp?filename=tryjs_syntax_variables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variable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variables_tota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3gqcga3c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syntax_expressions_string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arithmetric_exponent1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datatypes_dynamic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datatypes_typeof_number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3gqdah6w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function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tryit.asp?filename=tryjs_function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38dtk4q9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html/44fd6k659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>
            <a:off x="511875" y="13146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JavaScript: el lenguaje </a:t>
            </a:r>
            <a:br>
              <a:rPr lang="es"/>
            </a:br>
            <a:r>
              <a:rPr lang="es"/>
              <a:t>que hace funcionar la web</a:t>
            </a:r>
            <a:endParaRPr/>
          </a:p>
        </p:txBody>
      </p:sp>
      <p:sp>
        <p:nvSpPr>
          <p:cNvPr id="47" name="Google Shape;47;p7"/>
          <p:cNvSpPr txBox="1"/>
          <p:nvPr/>
        </p:nvSpPr>
        <p:spPr>
          <a:xfrm>
            <a:off x="6480400" y="4481825"/>
            <a:ext cx="266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Prof. Ramiro Estigarribia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102050" y="4681803"/>
            <a:ext cx="273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 a la presentación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475" y="2076022"/>
            <a:ext cx="6257058" cy="235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lenguaje de programación que se utiliza para crear aplicaciones web.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 el lenguaje que hace que las páginas web cobren vida. </a:t>
            </a:r>
            <a:br>
              <a:rPr lang="es"/>
            </a:br>
            <a:r>
              <a:rPr lang="es"/>
              <a:t>Es como el "cerebro" que le da interactividad a todo.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Página oficial: </a:t>
            </a:r>
            <a:r>
              <a:rPr lang="es" u="sng">
                <a:solidFill>
                  <a:schemeClr val="hlink"/>
                </a:solidFill>
                <a:hlinkClick r:id="rId3"/>
              </a:rPr>
              <a:t>JavaScript.com</a:t>
            </a:r>
            <a:br>
              <a:rPr lang="es"/>
            </a:b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🧠¿Qué es JavaScript?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11700" y="909577"/>
            <a:ext cx="8746500" cy="25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uno de los 3 lenguajes nativos del desarrollo web: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1. HTML para definir el contenido de las páginas web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2. CSS para especificar el diseño de las páginas web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3. JavaScript para programar el comportamiento.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utilizar JavaScript?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400" y="3047950"/>
            <a:ext cx="5379501" cy="20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18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Muchos programas de escritorio y servidores también se programan con JavaScript.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s"/>
              <a:t> es el más conocido en programación BackEnd.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en FrontEnd y BackEnd</a:t>
            </a:r>
            <a:endParaRPr/>
          </a:p>
        </p:txBody>
      </p:sp>
      <p:pic>
        <p:nvPicPr>
          <p:cNvPr id="69" name="Google Shape;69;p10"/>
          <p:cNvPicPr preferRelativeResize="0"/>
          <p:nvPr/>
        </p:nvPicPr>
        <p:blipFill rotWithShape="1">
          <a:blip r:embed="rId4">
            <a:alphaModFix/>
          </a:blip>
          <a:srcRect t="5630" b="12537"/>
          <a:stretch/>
        </p:blipFill>
        <p:spPr>
          <a:xfrm>
            <a:off x="1949225" y="2837075"/>
            <a:ext cx="4980225" cy="21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Permite escribir en un elemento HTML. (un texto, un dato, etc)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método </a:t>
            </a:r>
            <a:r>
              <a:rPr lang="es">
                <a:solidFill>
                  <a:srgbClr val="016CFF"/>
                </a:solidFill>
              </a:rPr>
              <a:t>getElementById()</a:t>
            </a:r>
            <a:r>
              <a:rPr lang="es"/>
              <a:t> permite buscar elementos por el identificador (id).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siguiente ejemplo "busca" un elemento HTML (con id="demo") y cambia el contenido del elemento (innerHTML) a "Hola":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020"/>
                </a:solidFill>
                <a:highlight>
                  <a:srgbClr val="FFFFFF"/>
                </a:highlight>
              </a:rPr>
              <a:t>document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r>
              <a:rPr lang="es">
                <a:solidFill>
                  <a:srgbClr val="016CFF"/>
                </a:solidFill>
                <a:highlight>
                  <a:srgbClr val="FFFFFF"/>
                </a:highlight>
              </a:rPr>
              <a:t>getElementById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).innerHTML = 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"Hola"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228600" marR="228600" lvl="0" indent="0" algn="l" rtl="0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b="1"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116771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Cambiar Contenido:innerHTML</a:t>
            </a:r>
            <a:endParaRPr/>
          </a:p>
        </p:txBody>
      </p:sp>
      <p:sp>
        <p:nvSpPr>
          <p:cNvPr id="76" name="Google Shape;76;p11"/>
          <p:cNvSpPr txBox="1"/>
          <p:nvPr/>
        </p:nvSpPr>
        <p:spPr>
          <a:xfrm>
            <a:off x="69689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0" y="1138175"/>
            <a:ext cx="91440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En este ejemplo se modifica el atributo src de una imagen:</a:t>
            </a:r>
            <a:endParaRPr sz="22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007700"/>
                </a:solidFill>
              </a:rPr>
              <a:t>&lt;button</a:t>
            </a:r>
            <a:r>
              <a:rPr lang="es" sz="2200">
                <a:solidFill>
                  <a:srgbClr val="333333"/>
                </a:solidFill>
              </a:rPr>
              <a:t> </a:t>
            </a:r>
            <a:r>
              <a:rPr lang="es" sz="2200">
                <a:solidFill>
                  <a:srgbClr val="0000CC"/>
                </a:solidFill>
              </a:rPr>
              <a:t>onclick=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"document.</a:t>
            </a:r>
            <a:r>
              <a:rPr lang="es" sz="2200">
                <a:solidFill>
                  <a:srgbClr val="016CFF"/>
                </a:solidFill>
                <a:highlight>
                  <a:srgbClr val="FFF0F0"/>
                </a:highlight>
              </a:rPr>
              <a:t>getElementById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('myImage').</a:t>
            </a:r>
            <a:r>
              <a:rPr lang="es" sz="2200">
                <a:solidFill>
                  <a:schemeClr val="accent4"/>
                </a:solidFill>
                <a:highlight>
                  <a:srgbClr val="FFF0F0"/>
                </a:highlight>
              </a:rPr>
              <a:t>src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='pic_bulbon.gif'"</a:t>
            </a:r>
            <a:r>
              <a:rPr lang="es" sz="2200">
                <a:solidFill>
                  <a:srgbClr val="007700"/>
                </a:solidFill>
              </a:rPr>
              <a:t>&gt; </a:t>
            </a:r>
            <a:r>
              <a:rPr lang="es" sz="2200">
                <a:solidFill>
                  <a:srgbClr val="333333"/>
                </a:solidFill>
              </a:rPr>
              <a:t>Turn on the light</a:t>
            </a:r>
            <a:r>
              <a:rPr lang="es" sz="2200">
                <a:solidFill>
                  <a:srgbClr val="007700"/>
                </a:solidFill>
              </a:rPr>
              <a:t>&lt;/button&gt;</a:t>
            </a:r>
            <a:endParaRPr sz="22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007700"/>
                </a:solidFill>
              </a:rPr>
              <a:t>&lt;img</a:t>
            </a:r>
            <a:r>
              <a:rPr lang="es" sz="2200">
                <a:solidFill>
                  <a:srgbClr val="333333"/>
                </a:solidFill>
              </a:rPr>
              <a:t> </a:t>
            </a:r>
            <a:r>
              <a:rPr lang="es" sz="2200">
                <a:solidFill>
                  <a:srgbClr val="0000CC"/>
                </a:solidFill>
              </a:rPr>
              <a:t>id=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"myImage"</a:t>
            </a:r>
            <a:r>
              <a:rPr lang="es" sz="2200">
                <a:solidFill>
                  <a:srgbClr val="333333"/>
                </a:solidFill>
              </a:rPr>
              <a:t> </a:t>
            </a:r>
            <a:r>
              <a:rPr lang="es" sz="2200">
                <a:solidFill>
                  <a:srgbClr val="0000CC"/>
                </a:solidFill>
              </a:rPr>
              <a:t>src=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"pic_bulboff.gif"</a:t>
            </a:r>
            <a:r>
              <a:rPr lang="es" sz="2200">
                <a:solidFill>
                  <a:srgbClr val="007700"/>
                </a:solidFill>
              </a:rPr>
              <a:t>&gt;</a:t>
            </a:r>
            <a:endParaRPr sz="220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007700"/>
                </a:solidFill>
              </a:rPr>
              <a:t>&lt;button</a:t>
            </a:r>
            <a:r>
              <a:rPr lang="es" sz="2200">
                <a:solidFill>
                  <a:srgbClr val="333333"/>
                </a:solidFill>
              </a:rPr>
              <a:t> </a:t>
            </a:r>
            <a:r>
              <a:rPr lang="es" sz="2200">
                <a:solidFill>
                  <a:srgbClr val="0000CC"/>
                </a:solidFill>
              </a:rPr>
              <a:t>onclick=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"document.</a:t>
            </a:r>
            <a:r>
              <a:rPr lang="es" sz="2200">
                <a:solidFill>
                  <a:srgbClr val="016CFF"/>
                </a:solidFill>
                <a:highlight>
                  <a:srgbClr val="FFF0F0"/>
                </a:highlight>
              </a:rPr>
              <a:t>getElementById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('myImage').</a:t>
            </a:r>
            <a:r>
              <a:rPr lang="es" sz="2200">
                <a:solidFill>
                  <a:schemeClr val="accent4"/>
                </a:solidFill>
                <a:highlight>
                  <a:srgbClr val="FFF0F0"/>
                </a:highlight>
              </a:rPr>
              <a:t>src</a:t>
            </a:r>
            <a:r>
              <a:rPr lang="es" sz="2200">
                <a:solidFill>
                  <a:srgbClr val="333333"/>
                </a:solidFill>
                <a:highlight>
                  <a:srgbClr val="FFF0F0"/>
                </a:highlight>
              </a:rPr>
              <a:t>='pic_bulboff.gif'"</a:t>
            </a:r>
            <a:r>
              <a:rPr lang="es" sz="2200">
                <a:solidFill>
                  <a:srgbClr val="007700"/>
                </a:solidFill>
              </a:rPr>
              <a:t>&gt; </a:t>
            </a:r>
            <a:r>
              <a:rPr lang="es" sz="2200">
                <a:solidFill>
                  <a:srgbClr val="333333"/>
                </a:solidFill>
              </a:rPr>
              <a:t>Turn off the light</a:t>
            </a:r>
            <a:r>
              <a:rPr lang="es" sz="2200">
                <a:solidFill>
                  <a:srgbClr val="007700"/>
                </a:solidFill>
              </a:rPr>
              <a:t>&lt;/button&gt;</a:t>
            </a:r>
            <a:endParaRPr sz="2200">
              <a:solidFill>
                <a:srgbClr val="0077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200"/>
          </a:p>
        </p:txBody>
      </p:sp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Cambiar Valores de Atributos </a:t>
            </a:r>
            <a:endParaRPr/>
          </a:p>
        </p:txBody>
      </p:sp>
      <p:sp>
        <p:nvSpPr>
          <p:cNvPr id="83" name="Google Shape;83;p12"/>
          <p:cNvSpPr txBox="1"/>
          <p:nvPr/>
        </p:nvSpPr>
        <p:spPr>
          <a:xfrm>
            <a:off x="6864525" y="210775"/>
            <a:ext cx="2340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 dirty="0">
                <a:latin typeface="Roboto"/>
                <a:ea typeface="Roboto"/>
                <a:cs typeface="Roboto"/>
                <a:sym typeface="Roboto"/>
              </a:rPr>
            </a:br>
            <a:r>
              <a:rPr lang="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Cambiar el estilo CSS de un elemento HTML es una variante de cambiar un atributo HTML: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7020"/>
                </a:solidFill>
                <a:highlight>
                  <a:srgbClr val="FFFFFF"/>
                </a:highlight>
              </a:rPr>
              <a:t>document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r>
              <a:rPr lang="es">
                <a:solidFill>
                  <a:srgbClr val="016CFF"/>
                </a:solidFill>
                <a:highlight>
                  <a:srgbClr val="FFFFFF"/>
                </a:highlight>
              </a:rPr>
              <a:t>getElementById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).style.fontSize = 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"35px"</a:t>
            </a:r>
            <a:r>
              <a:rPr lang="es">
                <a:solidFill>
                  <a:srgbClr val="333333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228600" marR="228600" lvl="0" indent="0" algn="l" rtl="0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Cambiar Estilos CSS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125" y="3051000"/>
            <a:ext cx="60579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una carpeta (Clase 4) y una vez dentro, crear 1 archivo: estilos.html</a:t>
            </a:r>
            <a:endParaRPr sz="22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mejoras!: </a:t>
            </a:r>
            <a:r>
              <a:rPr lang="es">
                <a:solidFill>
                  <a:schemeClr val="accent6"/>
                </a:solidFill>
              </a:rPr>
              <a:t>Botón para achicar el texto.</a:t>
            </a:r>
            <a:endParaRPr>
              <a:solidFill>
                <a:schemeClr val="accent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Compartir el código!</a:t>
            </a:r>
            <a:br>
              <a:rPr lang="es" sz="2200"/>
            </a:br>
            <a:r>
              <a:rPr lang="es" sz="2200" u="sng">
                <a:solidFill>
                  <a:schemeClr val="hlink"/>
                </a:solidFill>
                <a:hlinkClick r:id="rId3"/>
              </a:rPr>
              <a:t>https://onecompiler.com/html/438ds5hrz</a:t>
            </a:r>
            <a:endParaRPr sz="220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200"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Actividad 1: Cambiar Estilos CSS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Se pueden ocultar elementos HTML cambiando el display: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7020"/>
                </a:solidFill>
                <a:highlight>
                  <a:srgbClr val="FFFFFF"/>
                </a:highlight>
              </a:rPr>
              <a:t>document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r>
              <a:rPr lang="es" dirty="0">
                <a:solidFill>
                  <a:srgbClr val="016CFF"/>
                </a:solidFill>
                <a:highlight>
                  <a:srgbClr val="FFFFFF"/>
                </a:highlight>
              </a:rPr>
              <a:t>getElementById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(</a:t>
            </a:r>
            <a:r>
              <a:rPr lang="es" dirty="0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).style.display = </a:t>
            </a:r>
            <a:r>
              <a:rPr lang="es" dirty="0">
                <a:solidFill>
                  <a:srgbClr val="333333"/>
                </a:solidFill>
                <a:highlight>
                  <a:srgbClr val="FFF0F0"/>
                </a:highlight>
              </a:rPr>
              <a:t>"none"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;</a:t>
            </a:r>
            <a:endParaRPr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228600" marR="228600" lvl="0" indent="0" algn="l" rtl="0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Ocultar elementos HTML</a:t>
            </a:r>
            <a:endParaRPr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6664100" y="210775"/>
            <a:ext cx="254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 sz="1600" dirty="0">
                <a:latin typeface="Roboto"/>
                <a:ea typeface="Roboto"/>
                <a:cs typeface="Roboto"/>
                <a:sym typeface="Roboto"/>
              </a:rPr>
            </a:br>
            <a:r>
              <a:rPr lang="es" sz="1600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513" y="2883513"/>
            <a:ext cx="399097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Se pueden mostrar elementos HTML cambiando el display: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007020"/>
                </a:solidFill>
                <a:highlight>
                  <a:srgbClr val="FFFFFF"/>
                </a:highlight>
              </a:rPr>
              <a:t>document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r>
              <a:rPr lang="es" dirty="0">
                <a:solidFill>
                  <a:srgbClr val="016CFF"/>
                </a:solidFill>
                <a:highlight>
                  <a:srgbClr val="FFFFFF"/>
                </a:highlight>
              </a:rPr>
              <a:t>getElementById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(</a:t>
            </a:r>
            <a:r>
              <a:rPr lang="es" dirty="0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).style.display = </a:t>
            </a:r>
            <a:r>
              <a:rPr lang="es" dirty="0">
                <a:solidFill>
                  <a:srgbClr val="333333"/>
                </a:solidFill>
                <a:highlight>
                  <a:srgbClr val="FFF0F0"/>
                </a:highlight>
              </a:rPr>
              <a:t>"block"</a:t>
            </a:r>
            <a:r>
              <a:rPr lang="es" dirty="0">
                <a:solidFill>
                  <a:srgbClr val="333333"/>
                </a:solidFill>
                <a:highlight>
                  <a:srgbClr val="FFFFFF"/>
                </a:highlight>
              </a:rPr>
              <a:t>;</a:t>
            </a:r>
            <a:endParaRPr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228600" marR="228600" lvl="0" indent="0" algn="l" rtl="0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Mostrar elementos HTML</a:t>
            </a:r>
            <a:endParaRPr dirty="0"/>
          </a:p>
        </p:txBody>
      </p:sp>
      <p:sp>
        <p:nvSpPr>
          <p:cNvPr id="112" name="Google Shape;112;p16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 dirty="0">
                <a:latin typeface="Roboto"/>
                <a:ea typeface="Roboto"/>
                <a:cs typeface="Roboto"/>
                <a:sym typeface="Roboto"/>
              </a:rPr>
            </a:br>
            <a:r>
              <a:rPr lang="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9350" y="2687513"/>
            <a:ext cx="43053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Actividad: Implementar, comprender y personalizar el código en Visual Studio Code y compartir. (5 minutos)</a:t>
            </a:r>
            <a:endParaRPr sz="2200" dirty="0"/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 dirty="0"/>
              <a:t>Abrir Visual Studio Code.</a:t>
            </a:r>
            <a:endParaRPr sz="22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 dirty="0"/>
              <a:t>Crear 1 archivo: ocultar.html</a:t>
            </a:r>
            <a:endParaRPr sz="22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 dirty="0"/>
              <a:t>Realizar cambios y mejoras!: </a:t>
            </a:r>
            <a:r>
              <a:rPr lang="es" dirty="0">
                <a:solidFill>
                  <a:schemeClr val="accent6"/>
                </a:solidFill>
              </a:rPr>
              <a:t>Botón para mostrar</a:t>
            </a:r>
            <a:endParaRPr dirty="0">
              <a:solidFill>
                <a:schemeClr val="accent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 dirty="0"/>
              <a:t>Compartir el código!</a:t>
            </a:r>
            <a:br>
              <a:rPr lang="es" sz="2200" dirty="0"/>
            </a:br>
            <a:r>
              <a:rPr lang="es" sz="2200" u="sng" dirty="0">
                <a:solidFill>
                  <a:schemeClr val="hlink"/>
                </a:solidFill>
                <a:hlinkClick r:id="rId3"/>
              </a:rPr>
              <a:t>https://onecompiler.com/html/438dsnrt4</a:t>
            </a:r>
            <a:endParaRPr sz="22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200" dirty="0"/>
          </a:p>
        </p:txBody>
      </p:sp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Actividad 2: Ocultar Elementos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la etiqueta de JavaScript y permite insertar código en un archivo HTML.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 HTML el código JavaScript debe insertarse entre etiquetas: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&lt;script&gt;</a:t>
            </a:r>
            <a:br>
              <a:rPr lang="es"/>
            </a:br>
            <a:r>
              <a:rPr lang="es"/>
              <a:t>	</a:t>
            </a:r>
            <a:r>
              <a:rPr lang="es">
                <a:solidFill>
                  <a:srgbClr val="007020"/>
                </a:solidFill>
                <a:highlight>
                  <a:schemeClr val="lt1"/>
                </a:highlight>
              </a:rPr>
              <a:t>document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.</a:t>
            </a:r>
            <a:r>
              <a:rPr lang="es">
                <a:solidFill>
                  <a:srgbClr val="016CFF"/>
                </a:solidFill>
                <a:highlight>
                  <a:schemeClr val="lt1"/>
                </a:highlight>
              </a:rPr>
              <a:t>getElementById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).innerHTML = 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"Hello"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;</a:t>
            </a:r>
            <a:br>
              <a:rPr lang="es">
                <a:solidFill>
                  <a:srgbClr val="333333"/>
                </a:solidFill>
                <a:highlight>
                  <a:schemeClr val="lt1"/>
                </a:highlight>
              </a:rPr>
            </a:br>
            <a:r>
              <a:rPr lang="es">
                <a:solidFill>
                  <a:schemeClr val="accent1"/>
                </a:solidFill>
              </a:rPr>
              <a:t>&lt;/script&gt;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la etiqueta </a:t>
            </a:r>
            <a:r>
              <a:rPr lang="es">
                <a:solidFill>
                  <a:srgbClr val="A4C2F4"/>
                </a:solidFill>
              </a:rPr>
              <a:t>&lt;script&gt;</a:t>
            </a:r>
            <a:r>
              <a:rPr lang="es"/>
              <a:t>?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664100" y="210775"/>
            <a:ext cx="254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 sz="1600">
                <a:latin typeface="Roboto"/>
                <a:ea typeface="Roboto"/>
                <a:cs typeface="Roboto"/>
                <a:sym typeface="Roboto"/>
              </a:rPr>
            </a:br>
            <a:r>
              <a:rPr lang="e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puede colocar en la sección &lt;body&gt; o &lt;head&gt;.</a:t>
            </a:r>
            <a:endParaRPr/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000"/>
                </a:solidFill>
              </a:rPr>
              <a:t>&lt;html&gt;</a:t>
            </a:r>
            <a:br>
              <a:rPr lang="es">
                <a:solidFill>
                  <a:srgbClr val="333333"/>
                </a:solidFill>
              </a:rPr>
            </a:br>
            <a:r>
              <a:rPr lang="es">
                <a:solidFill>
                  <a:srgbClr val="333333"/>
                </a:solidFill>
              </a:rPr>
              <a:t>	</a:t>
            </a:r>
            <a:r>
              <a:rPr lang="es" b="1">
                <a:solidFill>
                  <a:srgbClr val="008000"/>
                </a:solidFill>
              </a:rPr>
              <a:t>&lt;body&gt;</a:t>
            </a:r>
            <a:br>
              <a:rPr lang="es">
                <a:solidFill>
                  <a:srgbClr val="333333"/>
                </a:solidFill>
              </a:rPr>
            </a:br>
            <a:r>
              <a:rPr lang="es">
                <a:solidFill>
                  <a:srgbClr val="333333"/>
                </a:solidFill>
              </a:rPr>
              <a:t>		</a:t>
            </a:r>
            <a:r>
              <a:rPr lang="es">
                <a:solidFill>
                  <a:srgbClr val="016CFF"/>
                </a:solidFill>
              </a:rPr>
              <a:t>&lt;script&gt;</a:t>
            </a:r>
            <a:r>
              <a:rPr lang="es">
                <a:solidFill>
                  <a:schemeClr val="accent3"/>
                </a:solidFill>
              </a:rPr>
              <a:t> </a:t>
            </a:r>
            <a:r>
              <a:rPr lang="es">
                <a:solidFill>
                  <a:srgbClr val="888888"/>
                </a:solidFill>
              </a:rPr>
              <a:t>...</a:t>
            </a:r>
            <a:r>
              <a:rPr lang="es">
                <a:solidFill>
                  <a:schemeClr val="accent3"/>
                </a:solidFill>
              </a:rPr>
              <a:t> </a:t>
            </a:r>
            <a:r>
              <a:rPr lang="es">
                <a:solidFill>
                  <a:srgbClr val="016CFF"/>
                </a:solidFill>
              </a:rPr>
              <a:t>&lt;/script&gt;</a:t>
            </a:r>
            <a:endParaRPr b="1">
              <a:solidFill>
                <a:srgbClr val="016CFF"/>
              </a:solidFill>
            </a:endParaRPr>
          </a:p>
          <a:p>
            <a:pPr marL="0" lvl="0" indent="4572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000"/>
                </a:solidFill>
              </a:rPr>
              <a:t>&lt;/body&gt;</a:t>
            </a:r>
            <a:br>
              <a:rPr lang="es">
                <a:solidFill>
                  <a:srgbClr val="333333"/>
                </a:solidFill>
              </a:rPr>
            </a:br>
            <a:r>
              <a:rPr lang="es" b="1">
                <a:solidFill>
                  <a:srgbClr val="008000"/>
                </a:solidFill>
              </a:rPr>
              <a:t>&lt;/html&gt;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s"/>
              <a:t>* Muchos programadores recomiendan colocar el </a:t>
            </a:r>
            <a:r>
              <a:rPr lang="es">
                <a:solidFill>
                  <a:srgbClr val="016CFF"/>
                </a:solidFill>
              </a:rPr>
              <a:t>&lt;script&gt;</a:t>
            </a:r>
            <a:r>
              <a:rPr lang="es"/>
              <a:t> al final del body porque mejora la velocidad.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Javascript en el Head o en el cierre del body?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¿Dónde se ubica el </a:t>
            </a:r>
            <a:r>
              <a:rPr lang="es">
                <a:solidFill>
                  <a:srgbClr val="A4C2F4"/>
                </a:solidFill>
              </a:rPr>
              <a:t>&lt;script&gt;</a:t>
            </a:r>
            <a:r>
              <a:rPr lang="es"/>
              <a:t>?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6664100" y="210775"/>
            <a:ext cx="254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 sz="1600">
                <a:latin typeface="Roboto"/>
                <a:ea typeface="Roboto"/>
                <a:cs typeface="Roboto"/>
                <a:sym typeface="Roboto"/>
              </a:rPr>
            </a:br>
            <a:r>
              <a:rPr lang="e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https://w3schools.com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También se pueden colocar en archivos externos que son llamados.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accent3"/>
                </a:solidFill>
              </a:rPr>
              <a:t>&lt;script</a:t>
            </a:r>
            <a:r>
              <a:rPr lang="es"/>
              <a:t> src="</a:t>
            </a:r>
            <a:r>
              <a:rPr lang="es">
                <a:solidFill>
                  <a:schemeClr val="accent2"/>
                </a:solidFill>
              </a:rPr>
              <a:t>myScript.js</a:t>
            </a:r>
            <a:r>
              <a:rPr lang="es"/>
              <a:t>"&gt;</a:t>
            </a:r>
            <a:r>
              <a:rPr lang="es">
                <a:solidFill>
                  <a:schemeClr val="accent3"/>
                </a:solidFill>
              </a:rPr>
              <a:t>&lt;/script&gt;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2205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en Archivo Externo</a:t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6886925" y="210775"/>
            <a:ext cx="231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 sz="1600">
                <a:latin typeface="Roboto"/>
                <a:ea typeface="Roboto"/>
                <a:cs typeface="Roboto"/>
                <a:sym typeface="Roboto"/>
              </a:rPr>
            </a:br>
            <a:r>
              <a:rPr lang="e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799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b="1"/>
              <a:t>🧼 Código limpio y organizado:</a:t>
            </a:r>
            <a:r>
              <a:rPr lang="es" sz="2300"/>
              <a:t> Separar el HTML del JavaScript hace que cada archivo tenga su rol claro.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b="1"/>
              <a:t>🔁 Reutilización fácil:</a:t>
            </a:r>
            <a:r>
              <a:rPr lang="es" sz="2300"/>
              <a:t> Podés usar el mismo archivo JavaScript en varias páginas. 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b="1"/>
              <a:t>🚀 Mejora el rendimiento:</a:t>
            </a:r>
            <a:r>
              <a:rPr lang="es" sz="2300"/>
              <a:t> Los navegadores pueden guardar en caché el archivo externo, lo que acelera la carga en visitas futuras.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 b="1"/>
              <a:t>👨‍💻 Trabajo en equipo:</a:t>
            </a:r>
            <a:r>
              <a:rPr lang="es" sz="2300"/>
              <a:t> En proyectos grandes, distintos miembros pueden trabajar en HTML, CSS y JS sin pisarse.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300"/>
          </a:p>
        </p:txBody>
      </p:sp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de JavaScript Externo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Actividad: Implementar, comprender y personalizar el código en Visual Studio Code y compartir. (5 minutos)</a:t>
            </a:r>
            <a:endParaRPr sz="2200"/>
          </a:p>
          <a:p>
            <a:pPr marL="457200" lvl="0" indent="-368300" algn="l" rtl="0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Abrir Visual Studio Code.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" sz="2200"/>
              <a:t>Crear 1 archivo: mostrar.html</a:t>
            </a:r>
            <a:endParaRPr sz="22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chemeClr val="accent6"/>
                </a:solidFill>
              </a:rPr>
              <a:t>que el script sea externo</a:t>
            </a:r>
            <a:endParaRPr>
              <a:solidFill>
                <a:schemeClr val="accent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Compartir el código!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https://onecompiler.com/html/438dsvzsr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3: Mostrar y Ocultar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311700" y="1138174"/>
            <a:ext cx="8520600" cy="3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opcional terminar una línea de código con punto y coma.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&lt;script&gt;</a:t>
            </a:r>
            <a:br>
              <a:rPr lang="es"/>
            </a:br>
            <a:r>
              <a:rPr lang="es"/>
              <a:t>	</a:t>
            </a:r>
            <a:r>
              <a:rPr lang="es">
                <a:solidFill>
                  <a:srgbClr val="007020"/>
                </a:solidFill>
                <a:highlight>
                  <a:schemeClr val="lt1"/>
                </a:highlight>
              </a:rPr>
              <a:t>document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.</a:t>
            </a:r>
            <a:r>
              <a:rPr lang="es">
                <a:solidFill>
                  <a:srgbClr val="016CFF"/>
                </a:solidFill>
                <a:highlight>
                  <a:schemeClr val="lt1"/>
                </a:highlight>
              </a:rPr>
              <a:t>getElementById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).innerHTML = 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"Hello"</a:t>
            </a:r>
            <a:r>
              <a:rPr lang="es">
                <a:solidFill>
                  <a:srgbClr val="333333"/>
                </a:solidFill>
                <a:highlight>
                  <a:schemeClr val="lt1"/>
                </a:highlight>
              </a:rPr>
              <a:t> </a:t>
            </a:r>
            <a:br>
              <a:rPr lang="es">
                <a:solidFill>
                  <a:srgbClr val="333333"/>
                </a:solidFill>
                <a:highlight>
                  <a:schemeClr val="lt1"/>
                </a:highlight>
              </a:rPr>
            </a:br>
            <a:r>
              <a:rPr lang="es">
                <a:solidFill>
                  <a:schemeClr val="accent1"/>
                </a:solidFill>
              </a:rPr>
              <a:t>&lt;/script&gt;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JavaScript posee: </a:t>
            </a:r>
            <a:r>
              <a:rPr lang="es">
                <a:solidFill>
                  <a:schemeClr val="accent1"/>
                </a:solidFill>
              </a:rPr>
              <a:t>Automatic Semicolon Insertion.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Artículo: Punto y coma en JavaScript</a:t>
            </a:r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opcional terminar con punto y coma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puede "mostrar" datos de diferentes maneras:</a:t>
            </a: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Escribir en un elemento HTML, usando innerHTML.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Mostrar en la salida HTML usando document.write().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Mostrar en un cuadro de alerta, usando window.alert().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Mostrar en la consola del navegador, usando console.log().</a:t>
            </a: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mostrar datos en JavaScript?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acceder a un elemento HTML, JS puede usar el método </a:t>
            </a:r>
            <a:r>
              <a:rPr lang="es">
                <a:solidFill>
                  <a:schemeClr val="accent3"/>
                </a:solidFill>
              </a:rPr>
              <a:t>document.</a:t>
            </a:r>
            <a:r>
              <a:rPr lang="es">
                <a:solidFill>
                  <a:srgbClr val="016CFF"/>
                </a:solidFill>
              </a:rPr>
              <a:t>getElementById</a:t>
            </a:r>
            <a:r>
              <a:rPr lang="es">
                <a:solidFill>
                  <a:schemeClr val="accent3"/>
                </a:solidFill>
              </a:rPr>
              <a:t> (id).</a:t>
            </a:r>
            <a:endParaRPr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atributo id define el elemento HTML. </a:t>
            </a:r>
            <a:br>
              <a:rPr lang="es"/>
            </a:br>
            <a:r>
              <a:rPr lang="es"/>
              <a:t>La propiedad innerHTML define el contenido HTML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p</a:t>
            </a:r>
            <a:r>
              <a:rPr lang="es">
                <a:solidFill>
                  <a:srgbClr val="FF0000"/>
                </a:solidFill>
              </a:rPr>
              <a:t> id</a:t>
            </a:r>
            <a:r>
              <a:rPr lang="es">
                <a:solidFill>
                  <a:srgbClr val="0000CD"/>
                </a:solidFill>
              </a:rPr>
              <a:t>="demo"&gt;&lt;</a:t>
            </a:r>
            <a:r>
              <a:rPr lang="es">
                <a:solidFill>
                  <a:srgbClr val="A52A2A"/>
                </a:solidFill>
              </a:rPr>
              <a:t>/p</a:t>
            </a:r>
            <a:r>
              <a:rPr lang="es">
                <a:solidFill>
                  <a:srgbClr val="0000CD"/>
                </a:solidFill>
              </a:rPr>
              <a:t>&gt;</a:t>
            </a:r>
            <a:endParaRPr>
              <a:solidFill>
                <a:srgbClr val="0000C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highlight>
                  <a:srgbClr val="FFFFFF"/>
                </a:highlight>
              </a:rPr>
              <a:t>document</a:t>
            </a:r>
            <a:r>
              <a:rPr lang="es">
                <a:highlight>
                  <a:srgbClr val="FFFFFF"/>
                </a:highlight>
              </a:rPr>
              <a:t>.</a:t>
            </a:r>
            <a:r>
              <a:rPr lang="es">
                <a:solidFill>
                  <a:schemeClr val="accent3"/>
                </a:solidFill>
                <a:highlight>
                  <a:srgbClr val="FFFFFF"/>
                </a:highlight>
              </a:rPr>
              <a:t>getElementById</a:t>
            </a:r>
            <a:r>
              <a:rPr lang="es">
                <a:highlight>
                  <a:srgbClr val="FFFFFF"/>
                </a:highlight>
              </a:rPr>
              <a:t>(</a:t>
            </a:r>
            <a:r>
              <a:rPr lang="es">
                <a:solidFill>
                  <a:srgbClr val="A52A2A"/>
                </a:solidFill>
                <a:highlight>
                  <a:srgbClr val="FFFFFF"/>
                </a:highlight>
              </a:rPr>
              <a:t>"demo"</a:t>
            </a:r>
            <a:r>
              <a:rPr lang="es">
                <a:highlight>
                  <a:srgbClr val="FFFFFF"/>
                </a:highlight>
              </a:rPr>
              <a:t>).innerHTML = </a:t>
            </a:r>
            <a:r>
              <a:rPr lang="es">
                <a:solidFill>
                  <a:srgbClr val="FF0000"/>
                </a:solidFill>
                <a:highlight>
                  <a:srgbClr val="FFFFFF"/>
                </a:highlight>
              </a:rPr>
              <a:t>5</a:t>
            </a:r>
            <a:r>
              <a:rPr lang="es">
                <a:highlight>
                  <a:srgbClr val="FFFFFF"/>
                </a:highlight>
              </a:rPr>
              <a:t> + </a:t>
            </a:r>
            <a:r>
              <a:rPr lang="es">
                <a:solidFill>
                  <a:srgbClr val="FF0000"/>
                </a:solidFill>
                <a:highlight>
                  <a:srgbClr val="FFFFFF"/>
                </a:highlight>
              </a:rPr>
              <a:t>6</a:t>
            </a:r>
            <a:r>
              <a:rPr lang="es">
                <a:highlight>
                  <a:srgbClr val="FFFFFF"/>
                </a:highlight>
              </a:rPr>
              <a:t>;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2205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1.Mostrar usando innerHTML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Es similar al comando print de PHP y muchos otros lenguajes.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s" sz="2600" dirty="0">
                <a:solidFill>
                  <a:srgbClr val="016CFF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2600" dirty="0">
                <a:solidFill>
                  <a:srgbClr val="A535AE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" sz="2600" dirty="0">
                <a:solidFill>
                  <a:srgbClr val="45AE34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" sz="26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'Hola Mundo'</a:t>
            </a: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s" sz="2600" dirty="0">
                <a:solidFill>
                  <a:srgbClr val="016CFF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es" sz="2600" dirty="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2967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2.Mostrar con document.write()</a:t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174375" y="210775"/>
            <a:ext cx="203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 usar un cuadro de alerta para mostrar datos: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script</a:t>
            </a:r>
            <a:r>
              <a:rPr lang="es">
                <a:solidFill>
                  <a:srgbClr val="0000CD"/>
                </a:solidFill>
              </a:rPr>
              <a:t>&gt;</a:t>
            </a:r>
            <a:endParaRPr>
              <a:solidFill>
                <a:srgbClr val="0000C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alert(</a:t>
            </a:r>
            <a:r>
              <a:rPr lang="es">
                <a:solidFill>
                  <a:srgbClr val="FF0000"/>
                </a:solidFill>
              </a:rPr>
              <a:t>5</a:t>
            </a:r>
            <a:r>
              <a:rPr lang="es"/>
              <a:t> + </a:t>
            </a:r>
            <a:r>
              <a:rPr lang="es">
                <a:solidFill>
                  <a:srgbClr val="FF0000"/>
                </a:solidFill>
              </a:rPr>
              <a:t>6</a:t>
            </a:r>
            <a:r>
              <a:rPr lang="es"/>
              <a:t>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/script</a:t>
            </a:r>
            <a:r>
              <a:rPr lang="es">
                <a:solidFill>
                  <a:srgbClr val="0000CD"/>
                </a:solidFill>
              </a:rPr>
              <a:t>&gt;</a:t>
            </a:r>
            <a:endParaRPr>
              <a:solidFill>
                <a:srgbClr val="0000CD"/>
              </a:solidFill>
            </a:endParaRPr>
          </a:p>
        </p:txBody>
      </p:sp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253950" y="17506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/>
              <a:t>3.Mostrar en un cuadro de alerta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185" name="Google Shape;185;p27"/>
          <p:cNvSpPr txBox="1"/>
          <p:nvPr/>
        </p:nvSpPr>
        <p:spPr>
          <a:xfrm>
            <a:off x="6975850" y="210775"/>
            <a:ext cx="222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body" idx="1"/>
          </p:nvPr>
        </p:nvSpPr>
        <p:spPr>
          <a:xfrm>
            <a:off x="311700" y="1138176"/>
            <a:ext cx="8520600" cy="29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 usar el método console.log() para mostrar datos en la consola del Navegador.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script</a:t>
            </a:r>
            <a:r>
              <a:rPr lang="es">
                <a:solidFill>
                  <a:srgbClr val="0000CD"/>
                </a:solidFill>
              </a:rPr>
              <a:t>&gt;</a:t>
            </a:r>
            <a:br>
              <a:rPr lang="es">
                <a:solidFill>
                  <a:srgbClr val="0000CD"/>
                </a:solidFill>
              </a:rPr>
            </a:br>
            <a:r>
              <a:rPr lang="es"/>
              <a:t>console.log(</a:t>
            </a:r>
            <a:r>
              <a:rPr lang="es">
                <a:solidFill>
                  <a:srgbClr val="FF0000"/>
                </a:solidFill>
              </a:rPr>
              <a:t>5</a:t>
            </a:r>
            <a:r>
              <a:rPr lang="es"/>
              <a:t> + </a:t>
            </a:r>
            <a:r>
              <a:rPr lang="es">
                <a:solidFill>
                  <a:srgbClr val="FF0000"/>
                </a:solidFill>
              </a:rPr>
              <a:t>5</a:t>
            </a:r>
            <a:r>
              <a:rPr lang="es"/>
              <a:t>);</a:t>
            </a:r>
            <a:br>
              <a:rPr lang="es"/>
            </a:b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/script</a:t>
            </a:r>
            <a:r>
              <a:rPr lang="es">
                <a:solidFill>
                  <a:srgbClr val="0000CD"/>
                </a:solidFill>
              </a:rPr>
              <a:t>&gt;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142155" y="209840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4.Mostrar en la consola del navegador </a:t>
            </a:r>
            <a:endParaRPr sz="3200"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9578" y="2099178"/>
            <a:ext cx="3629900" cy="200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 txBox="1"/>
          <p:nvPr/>
        </p:nvSpPr>
        <p:spPr>
          <a:xfrm>
            <a:off x="7189425" y="210775"/>
            <a:ext cx="207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método window.print() permite imprimir el contenido de la página actual.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button</a:t>
            </a:r>
            <a:r>
              <a:rPr lang="es">
                <a:solidFill>
                  <a:srgbClr val="FF0000"/>
                </a:solidFill>
              </a:rPr>
              <a:t> onclick</a:t>
            </a:r>
            <a:r>
              <a:rPr lang="es">
                <a:solidFill>
                  <a:srgbClr val="0000CD"/>
                </a:solidFill>
              </a:rPr>
              <a:t>="window.print()"&gt;</a:t>
            </a:r>
            <a:r>
              <a:rPr lang="es">
                <a:solidFill>
                  <a:srgbClr val="008000"/>
                </a:solidFill>
              </a:rPr>
              <a:t>Print this page</a:t>
            </a:r>
            <a:r>
              <a:rPr lang="es">
                <a:solidFill>
                  <a:srgbClr val="0000CD"/>
                </a:solidFill>
              </a:rPr>
              <a:t>&lt;</a:t>
            </a:r>
            <a:r>
              <a:rPr lang="es">
                <a:solidFill>
                  <a:srgbClr val="A52A2A"/>
                </a:solidFill>
              </a:rPr>
              <a:t>/button</a:t>
            </a:r>
            <a:r>
              <a:rPr lang="es">
                <a:solidFill>
                  <a:srgbClr val="0000CD"/>
                </a:solidFill>
              </a:rPr>
              <a:t>&gt;</a:t>
            </a:r>
            <a:endParaRPr>
              <a:solidFill>
                <a:srgbClr val="0000C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title"/>
          </p:nvPr>
        </p:nvSpPr>
        <p:spPr>
          <a:xfrm>
            <a:off x="1443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Opcional: Llamar a la Impresora</a:t>
            </a:r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189425" y="304228"/>
            <a:ext cx="210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componen de: valores, operadores, expresiones, palabras clave, funciones y comentarios.</a:t>
            </a:r>
            <a:br>
              <a:rPr lang="es"/>
            </a:br>
            <a:r>
              <a:rPr lang="es"/>
              <a:t>Es similar a muchos otros lenguajes.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800"/>
                </a:solidFill>
              </a:rPr>
              <a:t>let</a:t>
            </a:r>
            <a:r>
              <a:rPr lang="es">
                <a:solidFill>
                  <a:srgbClr val="333333"/>
                </a:solidFill>
              </a:rPr>
              <a:t> x, y, z;    	</a:t>
            </a:r>
            <a:r>
              <a:rPr lang="es">
                <a:solidFill>
                  <a:srgbClr val="888888"/>
                </a:solidFill>
              </a:rPr>
              <a:t>// Statement 1</a:t>
            </a:r>
            <a:br>
              <a:rPr lang="es">
                <a:solidFill>
                  <a:srgbClr val="333333"/>
                </a:solidFill>
              </a:rPr>
            </a:br>
            <a:r>
              <a:rPr lang="es">
                <a:solidFill>
                  <a:srgbClr val="333333"/>
                </a:solidFill>
              </a:rPr>
              <a:t>x = </a:t>
            </a:r>
            <a:r>
              <a:rPr lang="es" b="1">
                <a:solidFill>
                  <a:srgbClr val="0000DD"/>
                </a:solidFill>
              </a:rPr>
              <a:t>5</a:t>
            </a:r>
            <a:r>
              <a:rPr lang="es">
                <a:solidFill>
                  <a:srgbClr val="333333"/>
                </a:solidFill>
              </a:rPr>
              <a:t>;          	</a:t>
            </a:r>
            <a:r>
              <a:rPr lang="es">
                <a:solidFill>
                  <a:srgbClr val="888888"/>
                </a:solidFill>
              </a:rPr>
              <a:t>// Statement 2</a:t>
            </a:r>
            <a:br>
              <a:rPr lang="es">
                <a:solidFill>
                  <a:srgbClr val="333333"/>
                </a:solidFill>
              </a:rPr>
            </a:br>
            <a:r>
              <a:rPr lang="es">
                <a:solidFill>
                  <a:srgbClr val="333333"/>
                </a:solidFill>
              </a:rPr>
              <a:t>y = </a:t>
            </a:r>
            <a:r>
              <a:rPr lang="es" b="1">
                <a:solidFill>
                  <a:srgbClr val="0000DD"/>
                </a:solidFill>
              </a:rPr>
              <a:t>6</a:t>
            </a:r>
            <a:r>
              <a:rPr lang="es">
                <a:solidFill>
                  <a:srgbClr val="333333"/>
                </a:solidFill>
              </a:rPr>
              <a:t>;          	</a:t>
            </a:r>
            <a:r>
              <a:rPr lang="es">
                <a:solidFill>
                  <a:srgbClr val="888888"/>
                </a:solidFill>
              </a:rPr>
              <a:t>// Statement 3</a:t>
            </a:r>
            <a:br>
              <a:rPr lang="es">
                <a:solidFill>
                  <a:srgbClr val="333333"/>
                </a:solidFill>
              </a:rPr>
            </a:br>
            <a:r>
              <a:rPr lang="es">
                <a:solidFill>
                  <a:srgbClr val="333333"/>
                </a:solidFill>
              </a:rPr>
              <a:t>z = x + y;      	</a:t>
            </a:r>
            <a:r>
              <a:rPr lang="es">
                <a:solidFill>
                  <a:srgbClr val="888888"/>
                </a:solidFill>
              </a:rPr>
              <a:t>// Statement 4</a:t>
            </a:r>
            <a:endParaRPr>
              <a:solidFill>
                <a:srgbClr val="888888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</a:t>
            </a:r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7189425" y="210775"/>
            <a:ext cx="2056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utilizan para almacenar valores de datos.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 similar a muchos otros lenguajes.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800"/>
                </a:solidFill>
              </a:rPr>
              <a:t>let</a:t>
            </a:r>
            <a:r>
              <a:rPr lang="es">
                <a:solidFill>
                  <a:srgbClr val="333333"/>
                </a:solidFill>
              </a:rPr>
              <a:t> x;    </a:t>
            </a:r>
            <a:r>
              <a:rPr lang="es">
                <a:solidFill>
                  <a:srgbClr val="888888"/>
                </a:solidFill>
              </a:rPr>
              <a:t>//Declara la variable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33333"/>
                </a:solidFill>
              </a:rPr>
              <a:t>x = </a:t>
            </a:r>
            <a:r>
              <a:rPr lang="es" b="1">
                <a:solidFill>
                  <a:srgbClr val="0000DD"/>
                </a:solidFill>
              </a:rPr>
              <a:t>6</a:t>
            </a:r>
            <a:r>
              <a:rPr lang="es">
                <a:solidFill>
                  <a:srgbClr val="333333"/>
                </a:solidFill>
              </a:rPr>
              <a:t>;    </a:t>
            </a:r>
            <a:r>
              <a:rPr lang="es">
                <a:solidFill>
                  <a:srgbClr val="888888"/>
                </a:solidFill>
              </a:rPr>
              <a:t>//Le asigna el valor 6</a:t>
            </a:r>
            <a:endParaRPr>
              <a:solidFill>
                <a:srgbClr val="888888"/>
              </a:solidFill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88888"/>
              </a:solidFill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5202B"/>
                </a:solidFill>
              </a:rPr>
              <a:t>* También se puede declarar con: var y const (constante).</a:t>
            </a:r>
            <a:br>
              <a:rPr lang="es">
                <a:solidFill>
                  <a:srgbClr val="15202B"/>
                </a:solidFill>
              </a:rPr>
            </a:br>
            <a:r>
              <a:rPr lang="es" u="sng">
                <a:solidFill>
                  <a:schemeClr val="hlink"/>
                </a:solidFill>
                <a:hlinkClick r:id="rId3"/>
              </a:rPr>
              <a:t>var, let y const: ¿Cuál es la diferencia?</a:t>
            </a:r>
            <a:endParaRPr>
              <a:solidFill>
                <a:srgbClr val="15202B"/>
              </a:solidFill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>
                <a:solidFill>
                  <a:srgbClr val="15202B"/>
                </a:solidFill>
              </a:rPr>
            </a:br>
            <a:endParaRPr>
              <a:solidFill>
                <a:srgbClr val="15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en JavaScript</a:t>
            </a:r>
            <a:endParaRPr/>
          </a:p>
        </p:txBody>
      </p:sp>
      <p:sp>
        <p:nvSpPr>
          <p:cNvPr id="214" name="Google Shape;214;p31"/>
          <p:cNvSpPr txBox="1"/>
          <p:nvPr/>
        </p:nvSpPr>
        <p:spPr>
          <a:xfrm>
            <a:off x="7189425" y="210775"/>
            <a:ext cx="2082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desea que su código se ejecute en un navegador antiguo/obsoleto. En otros casos no conviene.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Var se utilizó por defecto entre 1995 y 2015.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Let y Const se agregaron a JavaScript en 2015.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800"/>
                </a:solidFill>
              </a:rPr>
              <a:t>var</a:t>
            </a:r>
            <a:r>
              <a:rPr lang="es">
                <a:solidFill>
                  <a:srgbClr val="333333"/>
                </a:solidFill>
              </a:rPr>
              <a:t> x = </a:t>
            </a:r>
            <a:r>
              <a:rPr lang="es" b="1">
                <a:solidFill>
                  <a:srgbClr val="0000DD"/>
                </a:solidFill>
              </a:rPr>
              <a:t>5</a:t>
            </a:r>
            <a:r>
              <a:rPr lang="es">
                <a:solidFill>
                  <a:srgbClr val="333333"/>
                </a:solidFill>
              </a:rPr>
              <a:t>;</a:t>
            </a:r>
            <a:br>
              <a:rPr lang="es">
                <a:solidFill>
                  <a:srgbClr val="333333"/>
                </a:solidFill>
              </a:rPr>
            </a:br>
            <a:r>
              <a:rPr lang="es" b="1">
                <a:solidFill>
                  <a:srgbClr val="008800"/>
                </a:solidFill>
              </a:rPr>
              <a:t>var</a:t>
            </a:r>
            <a:r>
              <a:rPr lang="es">
                <a:solidFill>
                  <a:srgbClr val="333333"/>
                </a:solidFill>
              </a:rPr>
              <a:t> y = </a:t>
            </a:r>
            <a:r>
              <a:rPr lang="es" b="1">
                <a:solidFill>
                  <a:srgbClr val="0000DD"/>
                </a:solidFill>
              </a:rPr>
              <a:t>6</a:t>
            </a:r>
            <a:r>
              <a:rPr lang="es">
                <a:solidFill>
                  <a:srgbClr val="333333"/>
                </a:solidFill>
              </a:rPr>
              <a:t>;</a:t>
            </a:r>
            <a:br>
              <a:rPr lang="es">
                <a:solidFill>
                  <a:srgbClr val="333333"/>
                </a:solidFill>
              </a:rPr>
            </a:br>
            <a:r>
              <a:rPr lang="es" b="1">
                <a:solidFill>
                  <a:srgbClr val="008800"/>
                </a:solidFill>
              </a:rPr>
              <a:t>var</a:t>
            </a:r>
            <a:r>
              <a:rPr lang="es">
                <a:solidFill>
                  <a:srgbClr val="333333"/>
                </a:solidFill>
              </a:rPr>
              <a:t> z = x + y;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¿Cuándo usar Var?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7189425" y="210775"/>
            <a:ext cx="201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utiliza para variables que no cambian su valor.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cree que el valor de la variable puede cambiar, es mejor utilizar let.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800"/>
                </a:solidFill>
              </a:rPr>
              <a:t>const</a:t>
            </a:r>
            <a:r>
              <a:rPr lang="es">
                <a:solidFill>
                  <a:srgbClr val="333333"/>
                </a:solidFill>
              </a:rPr>
              <a:t> price1 = </a:t>
            </a:r>
            <a:r>
              <a:rPr lang="es" b="1">
                <a:solidFill>
                  <a:srgbClr val="0000DD"/>
                </a:solidFill>
              </a:rPr>
              <a:t>5</a:t>
            </a:r>
            <a:r>
              <a:rPr lang="es">
                <a:solidFill>
                  <a:srgbClr val="333333"/>
                </a:solidFill>
              </a:rPr>
              <a:t>;</a:t>
            </a:r>
            <a:br>
              <a:rPr lang="es">
                <a:solidFill>
                  <a:srgbClr val="333333"/>
                </a:solidFill>
              </a:rPr>
            </a:br>
            <a:r>
              <a:rPr lang="es" b="1">
                <a:solidFill>
                  <a:srgbClr val="008800"/>
                </a:solidFill>
              </a:rPr>
              <a:t>const</a:t>
            </a:r>
            <a:r>
              <a:rPr lang="es">
                <a:solidFill>
                  <a:srgbClr val="333333"/>
                </a:solidFill>
              </a:rPr>
              <a:t> price2 = </a:t>
            </a:r>
            <a:r>
              <a:rPr lang="es" b="1">
                <a:solidFill>
                  <a:srgbClr val="0000DD"/>
                </a:solidFill>
              </a:rPr>
              <a:t>6</a:t>
            </a:r>
            <a:r>
              <a:rPr lang="es">
                <a:solidFill>
                  <a:srgbClr val="333333"/>
                </a:solidFill>
              </a:rPr>
              <a:t>;</a:t>
            </a:r>
            <a:br>
              <a:rPr lang="es">
                <a:solidFill>
                  <a:srgbClr val="333333"/>
                </a:solidFill>
              </a:rPr>
            </a:br>
            <a:r>
              <a:rPr lang="es" b="1">
                <a:solidFill>
                  <a:srgbClr val="008800"/>
                </a:solidFill>
              </a:rPr>
              <a:t>let</a:t>
            </a:r>
            <a:r>
              <a:rPr lang="es">
                <a:solidFill>
                  <a:srgbClr val="333333"/>
                </a:solidFill>
              </a:rPr>
              <a:t> total = price1 + price2;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¿Cuándo usar Const?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7189425" y="210775"/>
            <a:ext cx="201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Actividad: Implementar, comprender y personalizar el código en Visual Studio Code y compartir. (5 minutos)</a:t>
            </a: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Crear 1 archivo: datos.html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chemeClr val="accent6"/>
                </a:solidFill>
              </a:rPr>
              <a:t>que el script sea externo</a:t>
            </a:r>
            <a:endParaRPr>
              <a:solidFill>
                <a:schemeClr val="accent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Compartir el código!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https://onecompiler.com/html/43gqcga3c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4: Mostrar Datos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valores pueden ser de varios tipos, como números y cadenas.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ejemplo, "John" + " " + "Doe", se evalúa como "John Doe":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https://www.w3schools.com/js/tryit.asp?filename=tryjs_syntax_expressions_strings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Concatenar texto</a:t>
            </a:r>
            <a:endParaRPr/>
          </a:p>
        </p:txBody>
      </p:sp>
      <p:sp>
        <p:nvSpPr>
          <p:cNvPr id="241" name="Google Shape;241;p35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https:/.w3schools.com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Matemáticos</a:t>
            </a:r>
            <a:endParaRPr/>
          </a:p>
        </p:txBody>
      </p:sp>
      <p:pic>
        <p:nvPicPr>
          <p:cNvPr id="247" name="Google Shape;247;p36"/>
          <p:cNvPicPr preferRelativeResize="0"/>
          <p:nvPr/>
        </p:nvPicPr>
        <p:blipFill rotWithShape="1">
          <a:blip r:embed="rId3">
            <a:alphaModFix/>
          </a:blip>
          <a:srcRect t="764"/>
          <a:stretch/>
        </p:blipFill>
        <p:spPr>
          <a:xfrm>
            <a:off x="573000" y="969725"/>
            <a:ext cx="5731674" cy="41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operador de exponenciación (**) eleva al primer operando a la potencia del segundo operando.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b="1">
                <a:solidFill>
                  <a:srgbClr val="008800"/>
                </a:solidFill>
              </a:rPr>
              <a:t>let</a:t>
            </a:r>
            <a:r>
              <a:rPr lang="es">
                <a:solidFill>
                  <a:srgbClr val="333333"/>
                </a:solidFill>
              </a:rPr>
              <a:t> x = </a:t>
            </a:r>
            <a:r>
              <a:rPr lang="es" b="1">
                <a:solidFill>
                  <a:srgbClr val="0000DD"/>
                </a:solidFill>
              </a:rPr>
              <a:t>5</a:t>
            </a:r>
            <a:r>
              <a:rPr lang="es">
                <a:solidFill>
                  <a:srgbClr val="333333"/>
                </a:solidFill>
              </a:rPr>
              <a:t>;</a:t>
            </a:r>
            <a:br>
              <a:rPr lang="es">
                <a:solidFill>
                  <a:srgbClr val="333333"/>
                </a:solidFill>
              </a:rPr>
            </a:br>
            <a:r>
              <a:rPr lang="es">
                <a:solidFill>
                  <a:srgbClr val="007020"/>
                </a:solidFill>
              </a:rPr>
              <a:t>document</a:t>
            </a:r>
            <a:r>
              <a:rPr lang="es">
                <a:solidFill>
                  <a:srgbClr val="333333"/>
                </a:solidFill>
              </a:rPr>
              <a:t>.</a:t>
            </a:r>
            <a:r>
              <a:rPr lang="es">
                <a:solidFill>
                  <a:srgbClr val="016CFF"/>
                </a:solidFill>
              </a:rPr>
              <a:t>getElementById</a:t>
            </a:r>
            <a:r>
              <a:rPr lang="es">
                <a:solidFill>
                  <a:srgbClr val="333333"/>
                </a:solidFill>
              </a:rPr>
              <a:t>(</a:t>
            </a:r>
            <a:r>
              <a:rPr lang="es">
                <a:solidFill>
                  <a:srgbClr val="333333"/>
                </a:solidFill>
                <a:highlight>
                  <a:srgbClr val="FFF0F0"/>
                </a:highlight>
              </a:rPr>
              <a:t>"demo"</a:t>
            </a:r>
            <a:r>
              <a:rPr lang="es">
                <a:solidFill>
                  <a:srgbClr val="333333"/>
                </a:solidFill>
              </a:rPr>
              <a:t>).innerHTML = x ** </a:t>
            </a:r>
            <a:r>
              <a:rPr lang="es" b="1">
                <a:solidFill>
                  <a:srgbClr val="0000DD"/>
                </a:solidFill>
              </a:rPr>
              <a:t>2</a:t>
            </a:r>
            <a:r>
              <a:rPr lang="es">
                <a:solidFill>
                  <a:srgbClr val="333333"/>
                </a:solidFill>
              </a:rPr>
              <a:t>;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Exponenciación</a:t>
            </a:r>
            <a:endParaRPr/>
          </a:p>
        </p:txBody>
      </p:sp>
      <p:sp>
        <p:nvSpPr>
          <p:cNvPr id="254" name="Google Shape;254;p37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>
            <a:spLocks noGrp="1"/>
          </p:cNvSpPr>
          <p:nvPr>
            <p:ph type="body" idx="1"/>
          </p:nvPr>
        </p:nvSpPr>
        <p:spPr>
          <a:xfrm>
            <a:off x="311700" y="1155434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variables pueden contener muchos tipos de datos: números, cadenas y más de forma automática.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  <a:highlight>
                  <a:srgbClr val="FFFFFF"/>
                </a:highlight>
              </a:rPr>
              <a:t>let</a:t>
            </a:r>
            <a:r>
              <a:rPr lang="es">
                <a:highlight>
                  <a:srgbClr val="FFFFFF"/>
                </a:highlight>
              </a:rPr>
              <a:t> length = </a:t>
            </a:r>
            <a:r>
              <a:rPr lang="es">
                <a:solidFill>
                  <a:srgbClr val="FF0000"/>
                </a:solidFill>
                <a:highlight>
                  <a:srgbClr val="FFFFFF"/>
                </a:highlight>
              </a:rPr>
              <a:t>16</a:t>
            </a:r>
            <a:r>
              <a:rPr lang="es">
                <a:highlight>
                  <a:srgbClr val="FFFFFF"/>
                </a:highlight>
              </a:rPr>
              <a:t>;                               </a:t>
            </a:r>
            <a:r>
              <a:rPr lang="es">
                <a:solidFill>
                  <a:srgbClr val="008000"/>
                </a:solidFill>
                <a:highlight>
                  <a:srgbClr val="FFFFFF"/>
                </a:highlight>
              </a:rPr>
              <a:t>// Number</a:t>
            </a:r>
            <a:endParaRPr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CD"/>
                </a:solidFill>
                <a:highlight>
                  <a:srgbClr val="FFFFFF"/>
                </a:highlight>
              </a:rPr>
              <a:t>let</a:t>
            </a:r>
            <a:r>
              <a:rPr lang="es">
                <a:highlight>
                  <a:srgbClr val="FFFFFF"/>
                </a:highlight>
              </a:rPr>
              <a:t> lastName = </a:t>
            </a:r>
            <a:r>
              <a:rPr lang="es">
                <a:solidFill>
                  <a:srgbClr val="A52A2A"/>
                </a:solidFill>
                <a:highlight>
                  <a:srgbClr val="FFFFFF"/>
                </a:highlight>
              </a:rPr>
              <a:t>"Johnson"</a:t>
            </a:r>
            <a:r>
              <a:rPr lang="es">
                <a:highlight>
                  <a:srgbClr val="FFFFFF"/>
                </a:highlight>
              </a:rPr>
              <a:t>;                      </a:t>
            </a:r>
            <a:r>
              <a:rPr lang="es">
                <a:solidFill>
                  <a:srgbClr val="008000"/>
                </a:solidFill>
                <a:highlight>
                  <a:srgbClr val="FFFFFF"/>
                </a:highlight>
              </a:rPr>
              <a:t>// String</a:t>
            </a:r>
            <a:endParaRPr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0000CD"/>
                </a:solidFill>
                <a:highlight>
                  <a:srgbClr val="FFFFFF"/>
                </a:highlight>
              </a:rPr>
              <a:t>let</a:t>
            </a:r>
            <a:r>
              <a:rPr lang="es">
                <a:highlight>
                  <a:srgbClr val="FFFFFF"/>
                </a:highlight>
              </a:rPr>
              <a:t> x = {firstName:</a:t>
            </a:r>
            <a:r>
              <a:rPr lang="es">
                <a:solidFill>
                  <a:srgbClr val="A52A2A"/>
                </a:solidFill>
                <a:highlight>
                  <a:srgbClr val="FFFFFF"/>
                </a:highlight>
              </a:rPr>
              <a:t>"John"</a:t>
            </a:r>
            <a:r>
              <a:rPr lang="es">
                <a:highlight>
                  <a:srgbClr val="FFFFFF"/>
                </a:highlight>
              </a:rPr>
              <a:t>, lastName:</a:t>
            </a:r>
            <a:r>
              <a:rPr lang="es">
                <a:solidFill>
                  <a:srgbClr val="A52A2A"/>
                </a:solidFill>
                <a:highlight>
                  <a:srgbClr val="FFFFFF"/>
                </a:highlight>
              </a:rPr>
              <a:t>"Doe"</a:t>
            </a:r>
            <a:r>
              <a:rPr lang="es">
                <a:highlight>
                  <a:srgbClr val="FFFFFF"/>
                </a:highlight>
              </a:rPr>
              <a:t>};    </a:t>
            </a:r>
            <a:r>
              <a:rPr lang="es">
                <a:solidFill>
                  <a:srgbClr val="008000"/>
                </a:solidFill>
                <a:highlight>
                  <a:srgbClr val="FFFFFF"/>
                </a:highlight>
              </a:rPr>
              <a:t>// Object</a:t>
            </a:r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tiene tipos de datos dinámicos.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Esto significa que la misma variable se puede utilizar para contener diferentes tipos de datos: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let x; 		</a:t>
            </a:r>
            <a:r>
              <a:rPr lang="es">
                <a:solidFill>
                  <a:srgbClr val="999999"/>
                </a:solidFill>
              </a:rPr>
              <a:t>//Ahora x no está definido</a:t>
            </a:r>
            <a:endParaRPr>
              <a:solidFill>
                <a:srgbClr val="999999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x = 5;</a:t>
            </a:r>
            <a:r>
              <a:rPr lang="es"/>
              <a:t> 		</a:t>
            </a:r>
            <a:r>
              <a:rPr lang="es">
                <a:solidFill>
                  <a:srgbClr val="999999"/>
                </a:solidFill>
              </a:rPr>
              <a:t>//Ahora x es un número</a:t>
            </a:r>
            <a:endParaRPr>
              <a:solidFill>
                <a:srgbClr val="999999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dk1"/>
                </a:solidFill>
              </a:rPr>
              <a:t>x = "Juan"; </a:t>
            </a:r>
            <a:r>
              <a:rPr lang="es">
                <a:solidFill>
                  <a:srgbClr val="999999"/>
                </a:solidFill>
              </a:rPr>
              <a:t>//Ahora x es una cadena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66" name="Google Shape;266;p39"/>
          <p:cNvSpPr txBox="1">
            <a:spLocks noGrp="1"/>
          </p:cNvSpPr>
          <p:nvPr>
            <p:ph type="title"/>
          </p:nvPr>
        </p:nvSpPr>
        <p:spPr>
          <a:xfrm>
            <a:off x="1443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 son Dinámicos</a:t>
            </a:r>
            <a:endParaRPr/>
          </a:p>
        </p:txBody>
      </p:sp>
      <p:sp>
        <p:nvSpPr>
          <p:cNvPr id="267" name="Google Shape;267;p39"/>
          <p:cNvSpPr txBox="1"/>
          <p:nvPr/>
        </p:nvSpPr>
        <p:spPr>
          <a:xfrm>
            <a:off x="68927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Retorna el tipo de dato una variable de JavaScript.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typeof </a:t>
            </a:r>
            <a:r>
              <a:rPr lang="es">
                <a:solidFill>
                  <a:schemeClr val="accent3"/>
                </a:solidFill>
              </a:rPr>
              <a:t>"John"</a:t>
            </a:r>
            <a:r>
              <a:rPr lang="es"/>
              <a:t> 	</a:t>
            </a:r>
            <a:r>
              <a:rPr lang="es">
                <a:solidFill>
                  <a:srgbClr val="888888"/>
                </a:solidFill>
              </a:rPr>
              <a:t>// Devuelve "string"</a:t>
            </a:r>
            <a:endParaRPr>
              <a:solidFill>
                <a:srgbClr val="888888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typeof 555     		</a:t>
            </a:r>
            <a:r>
              <a:rPr lang="es">
                <a:solidFill>
                  <a:schemeClr val="lt2"/>
                </a:solidFill>
              </a:rPr>
              <a:t>// Devuelve "number"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Operador: </a:t>
            </a:r>
            <a:r>
              <a:rPr lang="es">
                <a:solidFill>
                  <a:schemeClr val="accent5"/>
                </a:solidFill>
              </a:rPr>
              <a:t>typeoff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74" name="Google Shape;274;p40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Asignación</a:t>
            </a:r>
            <a:endParaRPr/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50" y="983275"/>
            <a:ext cx="7217853" cy="416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Actividad: Implementar, comprender y personalizar el código en Visual Studio Code y compartir. (5 minutos)</a:t>
            </a: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Crear 1 archivo: tipos.html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Compartir el código! </a:t>
            </a:r>
            <a:r>
              <a:rPr lang="es">
                <a:solidFill>
                  <a:schemeClr val="accent6"/>
                </a:solidFill>
              </a:rPr>
              <a:t>que el script sea externo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https://onecompiler.com/html/43gqdah6w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5: Tipos de Datos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👉 </a:t>
            </a:r>
            <a:r>
              <a:rPr lang="es">
                <a:solidFill>
                  <a:srgbClr val="0F1115"/>
                </a:solidFill>
                <a:highlight>
                  <a:schemeClr val="lt1"/>
                </a:highlight>
              </a:rPr>
              <a:t>Es bloque de código que agrupa instrucciones para realizar una tarea específica. </a:t>
            </a:r>
            <a:endParaRPr>
              <a:solidFill>
                <a:srgbClr val="0F1115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F1115"/>
                </a:solidFill>
                <a:highlight>
                  <a:schemeClr val="lt1"/>
                </a:highlight>
              </a:rPr>
              <a:t>La defines una vez y luego la puedes usar (invocar) cuando quieras, las veces que quieras.</a:t>
            </a:r>
            <a:endParaRPr>
              <a:solidFill>
                <a:srgbClr val="0F1115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👉Es como una receta: le das un nombre, defines los pasos (código) y luego la puedes usar cada vez que quieras.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¿Qué es una Función?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3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>
            <a:spLocks noGrp="1"/>
          </p:cNvSpPr>
          <p:nvPr>
            <p:ph type="body" idx="1"/>
          </p:nvPr>
        </p:nvSpPr>
        <p:spPr>
          <a:xfrm>
            <a:off x="311700" y="1138175"/>
            <a:ext cx="88323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código dentro de la función se ejecutará cuando "algo" invoque (llame) a la función:</a:t>
            </a: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Cuando ocurre un evento (un usuario hace clic en un botón)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Cuando se invoca (llama) desde código JavaScript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Automáticamente (auto invocado)</a:t>
            </a:r>
            <a:endParaRPr/>
          </a:p>
        </p:txBody>
      </p:sp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Invocación de Función</a:t>
            </a:r>
            <a:endParaRPr/>
          </a:p>
        </p:txBody>
      </p:sp>
      <p:sp>
        <p:nvSpPr>
          <p:cNvPr id="300" name="Google Shape;300;p44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">
                <a:latin typeface="Roboto"/>
                <a:ea typeface="Roboto"/>
                <a:cs typeface="Roboto"/>
                <a:sym typeface="Roboto"/>
              </a:rPr>
            </a:br>
            <a:r>
              <a:rPr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Actividad: Implementar, comprender y personalizar el código en Visual Studio Code y compartir. (5 minutos)</a:t>
            </a: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Abrir Visual Studio Code.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Crear 1 archivo: funciones.html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 </a:t>
            </a:r>
            <a:r>
              <a:rPr lang="es">
                <a:solidFill>
                  <a:schemeClr val="accent6"/>
                </a:solidFill>
              </a:rPr>
              <a:t>que el script sea externo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Compartir el código!</a:t>
            </a: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https://onecompiler.com/html/438dtk4q9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06" name="Google Shape;306;p45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6: Funciones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>
            <a:spLocks noGrp="1"/>
          </p:cNvSpPr>
          <p:nvPr>
            <p:ph type="body" idx="1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Actividad: Implementar, comprender y personalizar el código en Visual Studio Code y compartir. (5 minutos)</a:t>
            </a:r>
            <a:endParaRPr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Abrir Visual Studio Code.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Crear 1 archivo: camara.html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/>
              <a:t>Realizar cambios y mejoras! </a:t>
            </a:r>
            <a:r>
              <a:rPr lang="es">
                <a:solidFill>
                  <a:srgbClr val="016CFF"/>
                </a:solidFill>
              </a:rPr>
              <a:t>Poner en colores</a:t>
            </a:r>
            <a:endParaRPr>
              <a:solidFill>
                <a:srgbClr val="016CFF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https://onecompiler.com/html/44fd6k659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12" name="Google Shape;312;p46"/>
          <p:cNvSpPr txBox="1">
            <a:spLocks noGrp="1"/>
          </p:cNvSpPr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7: Acceder a la cámara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2193</Words>
  <Application>Microsoft Office PowerPoint</Application>
  <PresentationFormat>Presentación en pantalla (16:9)</PresentationFormat>
  <Paragraphs>205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Verdana</vt:lpstr>
      <vt:lpstr>Roboto</vt:lpstr>
      <vt:lpstr>Arial</vt:lpstr>
      <vt:lpstr>Geometric</vt:lpstr>
      <vt:lpstr>JavaScript: el lenguaje  que hace funcionar la web</vt:lpstr>
      <vt:lpstr>🧠¿Qué es JavaScript? </vt:lpstr>
      <vt:lpstr>¿Por qué utilizar JavaScript? </vt:lpstr>
      <vt:lpstr>JavaScript en FrontEnd y BackEnd</vt:lpstr>
      <vt:lpstr>Cambiar Contenido:innerHTML</vt:lpstr>
      <vt:lpstr>Cambiar Valores de Atributos </vt:lpstr>
      <vt:lpstr>Cambiar Estilos CSS</vt:lpstr>
      <vt:lpstr>Actividad 1: Cambiar Estilos CSS </vt:lpstr>
      <vt:lpstr>Ocultar elementos HTML</vt:lpstr>
      <vt:lpstr>Mostrar elementos HTML</vt:lpstr>
      <vt:lpstr>Actividad 2: Ocultar Elementos </vt:lpstr>
      <vt:lpstr>¿Qué es la etiqueta &lt;script&gt;?</vt:lpstr>
      <vt:lpstr>¿Dónde se ubica el &lt;script&gt;?</vt:lpstr>
      <vt:lpstr>JavaScript en Archivo Externo</vt:lpstr>
      <vt:lpstr>Ventajas de JavaScript Externo </vt:lpstr>
      <vt:lpstr>Actividad 3: Mostrar y Ocultar</vt:lpstr>
      <vt:lpstr>Es opcional terminar con punto y coma</vt:lpstr>
      <vt:lpstr>¿Cómo mostrar datos en JavaScript?</vt:lpstr>
      <vt:lpstr>1.Mostrar usando innerHTML</vt:lpstr>
      <vt:lpstr>2.Mostrar con document.write()</vt:lpstr>
      <vt:lpstr>3.Mostrar en un cuadro de alerta </vt:lpstr>
      <vt:lpstr>4.Mostrar en la consola del navegador </vt:lpstr>
      <vt:lpstr>Opcional: Llamar a la Impresora</vt:lpstr>
      <vt:lpstr>Sentencias</vt:lpstr>
      <vt:lpstr>Variables en JavaScript</vt:lpstr>
      <vt:lpstr>¿Cuándo usar Var? </vt:lpstr>
      <vt:lpstr>¿Cuándo usar Const? </vt:lpstr>
      <vt:lpstr>Actividad 4: Mostrar Datos</vt:lpstr>
      <vt:lpstr>Concatenar texto</vt:lpstr>
      <vt:lpstr>Operadores Matemáticos</vt:lpstr>
      <vt:lpstr>Exponenciación</vt:lpstr>
      <vt:lpstr>Tipos de Datos</vt:lpstr>
      <vt:lpstr>Tipos de Datos son Dinámicos</vt:lpstr>
      <vt:lpstr>El Operador: typeoff</vt:lpstr>
      <vt:lpstr>Operadores de Asignación</vt:lpstr>
      <vt:lpstr>Actividad 5: Tipos de Datos</vt:lpstr>
      <vt:lpstr>¿Qué es una Función? </vt:lpstr>
      <vt:lpstr>Invocación de Función</vt:lpstr>
      <vt:lpstr>Actividad 6: Funciones </vt:lpstr>
      <vt:lpstr>Actividad 7: Acceder a la cámara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Supervisión de Apoyo Técnico Pedagógico 03-16 Cordillera - Arroyos y Esteros</cp:lastModifiedBy>
  <cp:revision>1</cp:revision>
  <dcterms:modified xsi:type="dcterms:W3CDTF">2026-05-02T15:06:42Z</dcterms:modified>
</cp:coreProperties>
</file>