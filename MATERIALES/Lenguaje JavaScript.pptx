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y="5143500" cx="9144000"/>
  <p:notesSz cx="6858000" cy="9144000"/>
  <p:embeddedFontLst>
    <p:embeddedFont>
      <p:font typeface="Roboto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font" Target="fonts/Roboto-regular.fntdata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Roboto-italic.fntdata"/><Relationship Id="rId47" Type="http://schemas.openxmlformats.org/officeDocument/2006/relationships/font" Target="fonts/Roboto-bold.fntdata"/><Relationship Id="rId49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390c4b22a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390c4b22a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640fa58213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640fa58213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524c054f3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524c054f3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1390c4b22a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1390c4b22a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390c4b22ae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390c4b22ae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90c4b22ae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1390c4b22ae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d8df8cdf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2d8df8cdf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390c4b22ae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390c4b22ae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390c4b22ae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390c4b22ae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d8df8cdf4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d8df8cdf4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6443219e4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6443219e4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390c4b22ae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390c4b22ae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6443219e42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6443219e42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390c4b22ae_0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390c4b22ae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dfd63f1e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2ddfd63f1e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1524c054f3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1524c054f3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58022025e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258022025e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58022025e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58022025e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58022025e5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58022025e5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58022025e5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58022025e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58022025e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258022025e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58022025e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258022025e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58022025e5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58022025e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58022025e5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258022025e5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58022025e5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258022025e5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58022025e5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58022025e5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54905bb54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54905bb54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58022025e5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258022025e5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58022025e5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258022025e5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58022025e5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58022025e5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58022025e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258022025e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58022025e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258022025e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58022025e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58022025e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58022025e5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58022025e5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54905bb54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54905bb54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58022025e5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58022025e5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58022025e5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58022025e5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d8df8cdf44_0_52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2d8df8cdf4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1f578b5a716_0_0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1f578b5a71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  <a:defRPr sz="2400">
                <a:solidFill>
                  <a:srgbClr val="000000"/>
                </a:solidFill>
              </a:defRPr>
            </a:lvl1pPr>
            <a:lvl2pPr indent="-381000" lvl="1" marL="9144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○"/>
              <a:defRPr sz="2400">
                <a:solidFill>
                  <a:srgbClr val="000000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>
            <a:off x="6662058" y="4446667"/>
            <a:ext cx="2508020" cy="706541"/>
            <a:chOff x="6533328" y="4151184"/>
            <a:chExt cx="2610617" cy="740531"/>
          </a:xfrm>
        </p:grpSpPr>
        <p:sp>
          <p:nvSpPr>
            <p:cNvPr id="23" name="Google Shape;23;p3"/>
            <p:cNvSpPr/>
            <p:nvPr/>
          </p:nvSpPr>
          <p:spPr>
            <a:xfrm>
              <a:off x="8272445" y="4151316"/>
              <a:ext cx="871500" cy="7404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6533328" y="4151316"/>
              <a:ext cx="871500" cy="7404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7404838" y="4151316"/>
              <a:ext cx="871500" cy="740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rot="10800000">
              <a:off x="8272377" y="4151184"/>
              <a:ext cx="871500" cy="7404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" name="Google Shape;27;p3"/>
          <p:cNvGrpSpPr/>
          <p:nvPr/>
        </p:nvGrpSpPr>
        <p:grpSpPr>
          <a:xfrm>
            <a:off x="-51" y="-9166"/>
            <a:ext cx="9144142" cy="983316"/>
            <a:chOff x="-13" y="-12188"/>
            <a:chExt cx="8005728" cy="1161900"/>
          </a:xfrm>
        </p:grpSpPr>
        <p:sp>
          <p:nvSpPr>
            <p:cNvPr id="28" name="Google Shape;28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AB010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0F243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3600">
                <a:solidFill>
                  <a:srgbClr val="FFFFFF"/>
                </a:solidFill>
              </a:endParaRPr>
            </a:p>
          </p:txBody>
        </p:sp>
      </p:grpSp>
      <p:sp>
        <p:nvSpPr>
          <p:cNvPr id="30" name="Google Shape;30;p3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None/>
              <a:defRPr sz="38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4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" name="Google Shape;35;p4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6" name="Google Shape;36;p4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docs.google.com/presentation/d/1C9PO0wxmnBLd2Lua1XbcAGvJQJeaPSLMUlzKWsCdlRo/edit?usp=sharing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javascript.com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nodejs.org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w3schools.com/js/tryit.asp?filename=tryjs_intro_inner_html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w3schools.com/js/tryit.asp?filename=tryjs_intro_lightbulb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w3schools.com/js/tryit.asp?filename=tryjs_intro_style" TargetMode="External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necompiler.com/html/438ds5hrz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w3schools.com/js/tryit.asp?filename=tryjs_intro_hide" TargetMode="External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w3schools.com/js/tryit.asp?filename=tryjs_intro_show" TargetMode="External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necompiler.com/html/438dsnrt4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w3schools.com/js/tryit.asp?filename=tryjs_whereto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blog.desafiolatam.com/javascript-en-el-head-o-en-el-cierre-del-body-estas-equivocado/" TargetMode="External"/><Relationship Id="rId4" Type="http://schemas.openxmlformats.org/officeDocument/2006/relationships/hyperlink" Target="https://www.w3schools.com/js/tryit.asp?filename=tryjs_whereto_body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w3schools.com/js/tryit.asp?filename=tryjs_whereto_external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necompiler.com/html/438dsvzsr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diegoboscan.com/usar-punto-y-coma-en-javascript/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ww.w3schools.com/js/tryit.asp?filename=tryjs_output_dom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www.w3schools.com/js/tryit.asp?filename=tryjs_output_writ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w3schools.com/js/tryit.asp?filename=tryjs_output_alert2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Relationship Id="rId4" Type="http://schemas.openxmlformats.org/officeDocument/2006/relationships/hyperlink" Target="https://www.w3schools.com/js/tryit.asp?filename=tryjs_output_consol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www.w3schools.com/js/tryit.asp?filename=tryjs_output_prin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www.w3schools.com/js/tryit.asp?filename=tryjs_statements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www.freecodecamp.org/espanol/news/var-let-y-const-cual-es-la-diferencia/" TargetMode="External"/><Relationship Id="rId4" Type="http://schemas.openxmlformats.org/officeDocument/2006/relationships/hyperlink" Target="https://www.w3schools.com/js/tryit.asp?filename=tryjs_syntax_variable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w3schools.com/js/tryit.asp?filename=tryjs_variable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www.w3schools.com/js/tryit.asp?filename=tryjs_variables_total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necompiler.com/html/43gqcga3c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www.w3schools.com/js/tryit.asp?filename=tryjs_syntax_expressions_strings" TargetMode="External"/><Relationship Id="rId4" Type="http://schemas.openxmlformats.org/officeDocument/2006/relationships/hyperlink" Target="https://www.w3schools.com/js/tryit.asp?filename=tryjs_syntax_expressions_string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w3schools.com/js/tryit.asp?filename=tryjs_arithmetric_exponent1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www.w3schools.com/js/tryit.asp?filename=tryjs_datatypes_dynamic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www.w3schools.com/js/tryit.asp?filename=tryjs_datatypes_typeof_number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necompiler.com/html/43gqdah6w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www.w3schools.com/js/tryit.asp?filename=tryjs_functions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www.w3schools.com/js/tryit.asp?filename=tryjs_functions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necompiler.com/html/438dtk4q9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necompiler.com/html/44fd6k659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ctrTitle"/>
          </p:nvPr>
        </p:nvSpPr>
        <p:spPr>
          <a:xfrm>
            <a:off x="511875" y="1314647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JavaScript: el lenguaje </a:t>
            </a:r>
            <a:br>
              <a:rPr lang="es"/>
            </a:br>
            <a:r>
              <a:rPr lang="es"/>
              <a:t>que hace funcionar la web</a:t>
            </a:r>
            <a:endParaRPr/>
          </a:p>
        </p:txBody>
      </p:sp>
      <p:sp>
        <p:nvSpPr>
          <p:cNvPr id="47" name="Google Shape;47;p7"/>
          <p:cNvSpPr txBox="1"/>
          <p:nvPr/>
        </p:nvSpPr>
        <p:spPr>
          <a:xfrm>
            <a:off x="6480400" y="4481825"/>
            <a:ext cx="2663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Prof. Ramiro Estigarribia</a:t>
            </a:r>
            <a:endParaRPr sz="18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" name="Google Shape;48;p7"/>
          <p:cNvSpPr txBox="1"/>
          <p:nvPr/>
        </p:nvSpPr>
        <p:spPr>
          <a:xfrm>
            <a:off x="102050" y="4681803"/>
            <a:ext cx="273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Link a la presentación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" name="Google Shape;49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3475" y="2076022"/>
            <a:ext cx="6257058" cy="2352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 un lenguaje de programación que se utiliza para crear aplicaciones web.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Es el lenguaje que hace que las páginas web cobren vida. </a:t>
            </a:r>
            <a:br>
              <a:rPr lang="es"/>
            </a:br>
            <a:r>
              <a:rPr lang="es"/>
              <a:t>Es como el "cerebro" que le da interactividad a todo. 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Página oficial: </a:t>
            </a:r>
            <a:r>
              <a:rPr lang="es" u="sng">
                <a:solidFill>
                  <a:schemeClr val="hlink"/>
                </a:solidFill>
                <a:hlinkClick r:id="rId3"/>
              </a:rPr>
              <a:t>JavaScript.com</a:t>
            </a:r>
            <a:br>
              <a:rPr lang="es"/>
            </a:b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8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🧠¿Qué es JavaScript?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11700" y="909577"/>
            <a:ext cx="8746500" cy="251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</a:t>
            </a:r>
            <a:r>
              <a:rPr lang="es"/>
              <a:t>s uno de los 3 lenguajes nativos del desarrollo web: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	1. HTML para definir el contenido de las páginas web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	2. CSS para especificar el diseño de las páginas web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	3. JavaScript para programar el comportamiento.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9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¿Por qué utilizar JavaScript?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2" name="Google Shape;62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400" y="3047950"/>
            <a:ext cx="5379501" cy="209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1700" y="1138175"/>
            <a:ext cx="8832300" cy="18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Muchos programas de escritorio y servidores también se programan con JavaScript.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" u="sng">
                <a:solidFill>
                  <a:schemeClr val="hlink"/>
                </a:solidFill>
                <a:hlinkClick r:id="rId3"/>
              </a:rPr>
              <a:t>Node.js</a:t>
            </a:r>
            <a:r>
              <a:rPr lang="es"/>
              <a:t> es el más conocido en programación BackEnd.</a:t>
            </a:r>
            <a:endParaRPr/>
          </a:p>
        </p:txBody>
      </p:sp>
      <p:sp>
        <p:nvSpPr>
          <p:cNvPr id="68" name="Google Shape;68;p10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JavaScript en FrontEnd y BackEnd</a:t>
            </a:r>
            <a:endParaRPr/>
          </a:p>
        </p:txBody>
      </p:sp>
      <p:pic>
        <p:nvPicPr>
          <p:cNvPr id="69" name="Google Shape;69;p10"/>
          <p:cNvPicPr preferRelativeResize="0"/>
          <p:nvPr/>
        </p:nvPicPr>
        <p:blipFill rotWithShape="1">
          <a:blip r:embed="rId4">
            <a:alphaModFix/>
          </a:blip>
          <a:srcRect b="12537" l="0" r="0" t="5630"/>
          <a:stretch/>
        </p:blipFill>
        <p:spPr>
          <a:xfrm>
            <a:off x="1949225" y="2837075"/>
            <a:ext cx="4980225" cy="213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Permite escribir en un elemento HTML. (un texto, un dato, etc)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El método </a:t>
            </a:r>
            <a:r>
              <a:rPr lang="es">
                <a:solidFill>
                  <a:srgbClr val="016CFF"/>
                </a:solidFill>
              </a:rPr>
              <a:t>getElementById()</a:t>
            </a:r>
            <a:r>
              <a:rPr lang="es"/>
              <a:t> permite buscar elementos por el identificador (id).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El siguiente ejemplo "busca" un elemento HTML (con id="demo") y cambia el contenido del elemento (innerHTML) a "Hola":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7020"/>
                </a:solidFill>
                <a:highlight>
                  <a:srgbClr val="FFFFFF"/>
                </a:highlight>
              </a:rPr>
              <a:t>document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.</a:t>
            </a:r>
            <a:r>
              <a:rPr lang="es">
                <a:solidFill>
                  <a:srgbClr val="016CFF"/>
                </a:solidFill>
                <a:highlight>
                  <a:srgbClr val="FFFFFF"/>
                </a:highlight>
              </a:rPr>
              <a:t>getElementById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).innerHTML = 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"Hola"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;</a:t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228600" marR="228600" rtl="0" algn="l">
              <a:lnSpc>
                <a:spcPct val="110795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 b="1"/>
          </a:p>
        </p:txBody>
      </p:sp>
      <p:sp>
        <p:nvSpPr>
          <p:cNvPr id="75" name="Google Shape;75;p11"/>
          <p:cNvSpPr txBox="1"/>
          <p:nvPr>
            <p:ph type="title"/>
          </p:nvPr>
        </p:nvSpPr>
        <p:spPr>
          <a:xfrm>
            <a:off x="116771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Cambiar Contenido:innerHTML</a:t>
            </a:r>
            <a:endParaRPr/>
          </a:p>
        </p:txBody>
      </p:sp>
      <p:sp>
        <p:nvSpPr>
          <p:cNvPr id="76" name="Google Shape;76;p11"/>
          <p:cNvSpPr txBox="1"/>
          <p:nvPr/>
        </p:nvSpPr>
        <p:spPr>
          <a:xfrm>
            <a:off x="69689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0" y="1138175"/>
            <a:ext cx="91440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/>
              <a:t>En este ejemplo se modifica el atributo src de una imagen:</a:t>
            </a:r>
            <a:endParaRPr sz="2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007700"/>
                </a:solidFill>
              </a:rPr>
              <a:t>&lt;button</a:t>
            </a:r>
            <a:r>
              <a:rPr lang="es" sz="2200">
                <a:solidFill>
                  <a:srgbClr val="333333"/>
                </a:solidFill>
              </a:rPr>
              <a:t> </a:t>
            </a:r>
            <a:r>
              <a:rPr lang="es" sz="2200">
                <a:solidFill>
                  <a:srgbClr val="0000CC"/>
                </a:solidFill>
              </a:rPr>
              <a:t>onclick=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"document.</a:t>
            </a:r>
            <a:r>
              <a:rPr lang="es" sz="2200">
                <a:solidFill>
                  <a:srgbClr val="016CFF"/>
                </a:solidFill>
                <a:highlight>
                  <a:srgbClr val="FFF0F0"/>
                </a:highlight>
              </a:rPr>
              <a:t>getElementById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('myImage').</a:t>
            </a:r>
            <a:r>
              <a:rPr lang="es" sz="2200">
                <a:solidFill>
                  <a:schemeClr val="accent4"/>
                </a:solidFill>
                <a:highlight>
                  <a:srgbClr val="FFF0F0"/>
                </a:highlight>
              </a:rPr>
              <a:t>src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='pic_bulbon.gif'"</a:t>
            </a:r>
            <a:r>
              <a:rPr lang="es" sz="2200">
                <a:solidFill>
                  <a:srgbClr val="007700"/>
                </a:solidFill>
              </a:rPr>
              <a:t>&gt; </a:t>
            </a:r>
            <a:r>
              <a:rPr lang="es" sz="2200">
                <a:solidFill>
                  <a:srgbClr val="333333"/>
                </a:solidFill>
              </a:rPr>
              <a:t>Turn on the light</a:t>
            </a:r>
            <a:r>
              <a:rPr lang="es" sz="2200">
                <a:solidFill>
                  <a:srgbClr val="007700"/>
                </a:solidFill>
              </a:rPr>
              <a:t>&lt;/button&gt;</a:t>
            </a:r>
            <a:endParaRPr sz="2200">
              <a:solidFill>
                <a:srgbClr val="333333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007700"/>
                </a:solidFill>
              </a:rPr>
              <a:t>&lt;img</a:t>
            </a:r>
            <a:r>
              <a:rPr lang="es" sz="2200">
                <a:solidFill>
                  <a:srgbClr val="333333"/>
                </a:solidFill>
              </a:rPr>
              <a:t> </a:t>
            </a:r>
            <a:r>
              <a:rPr lang="es" sz="2200">
                <a:solidFill>
                  <a:srgbClr val="0000CC"/>
                </a:solidFill>
              </a:rPr>
              <a:t>id=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"myImage"</a:t>
            </a:r>
            <a:r>
              <a:rPr lang="es" sz="2200">
                <a:solidFill>
                  <a:srgbClr val="333333"/>
                </a:solidFill>
              </a:rPr>
              <a:t> </a:t>
            </a:r>
            <a:r>
              <a:rPr lang="es" sz="2200">
                <a:solidFill>
                  <a:srgbClr val="0000CC"/>
                </a:solidFill>
              </a:rPr>
              <a:t>src=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"pic_bulboff.gif"</a:t>
            </a:r>
            <a:r>
              <a:rPr lang="es" sz="2200">
                <a:solidFill>
                  <a:srgbClr val="007700"/>
                </a:solidFill>
              </a:rPr>
              <a:t>&gt;</a:t>
            </a:r>
            <a:endParaRPr sz="22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0795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007700"/>
                </a:solidFill>
              </a:rPr>
              <a:t>&lt;button</a:t>
            </a:r>
            <a:r>
              <a:rPr lang="es" sz="2200">
                <a:solidFill>
                  <a:srgbClr val="333333"/>
                </a:solidFill>
              </a:rPr>
              <a:t> </a:t>
            </a:r>
            <a:r>
              <a:rPr lang="es" sz="2200">
                <a:solidFill>
                  <a:srgbClr val="0000CC"/>
                </a:solidFill>
              </a:rPr>
              <a:t>onclick=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"document.</a:t>
            </a:r>
            <a:r>
              <a:rPr lang="es" sz="2200">
                <a:solidFill>
                  <a:srgbClr val="016CFF"/>
                </a:solidFill>
                <a:highlight>
                  <a:srgbClr val="FFF0F0"/>
                </a:highlight>
              </a:rPr>
              <a:t>getElementById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('myImage').</a:t>
            </a:r>
            <a:r>
              <a:rPr lang="es" sz="2200">
                <a:solidFill>
                  <a:schemeClr val="accent4"/>
                </a:solidFill>
                <a:highlight>
                  <a:srgbClr val="FFF0F0"/>
                </a:highlight>
              </a:rPr>
              <a:t>src</a:t>
            </a:r>
            <a:r>
              <a:rPr lang="es" sz="2200">
                <a:solidFill>
                  <a:srgbClr val="333333"/>
                </a:solidFill>
                <a:highlight>
                  <a:srgbClr val="FFF0F0"/>
                </a:highlight>
              </a:rPr>
              <a:t>='pic_bulboff.gif'"</a:t>
            </a:r>
            <a:r>
              <a:rPr lang="es" sz="2200">
                <a:solidFill>
                  <a:srgbClr val="007700"/>
                </a:solidFill>
              </a:rPr>
              <a:t>&gt; </a:t>
            </a:r>
            <a:r>
              <a:rPr lang="es" sz="2200">
                <a:solidFill>
                  <a:srgbClr val="333333"/>
                </a:solidFill>
              </a:rPr>
              <a:t>Turn off the light</a:t>
            </a:r>
            <a:r>
              <a:rPr lang="es" sz="2200">
                <a:solidFill>
                  <a:srgbClr val="007700"/>
                </a:solidFill>
              </a:rPr>
              <a:t>&lt;/button&gt;</a:t>
            </a:r>
            <a:endParaRPr sz="2200">
              <a:solidFill>
                <a:srgbClr val="0077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82" name="Google Shape;82;p12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Cambiar Valores de Atributos </a:t>
            </a:r>
            <a:endParaRPr/>
          </a:p>
        </p:txBody>
      </p:sp>
      <p:sp>
        <p:nvSpPr>
          <p:cNvPr id="83" name="Google Shape;83;p12"/>
          <p:cNvSpPr txBox="1"/>
          <p:nvPr/>
        </p:nvSpPr>
        <p:spPr>
          <a:xfrm>
            <a:off x="6864525" y="210775"/>
            <a:ext cx="2340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Cambiar el estilo CSS de un elemento HTML es una variante de cambiar un atributo HTML: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7020"/>
                </a:solidFill>
                <a:highlight>
                  <a:srgbClr val="FFFFFF"/>
                </a:highlight>
              </a:rPr>
              <a:t>document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.</a:t>
            </a:r>
            <a:r>
              <a:rPr lang="es">
                <a:solidFill>
                  <a:srgbClr val="016CFF"/>
                </a:solidFill>
                <a:highlight>
                  <a:srgbClr val="FFFFFF"/>
                </a:highlight>
              </a:rPr>
              <a:t>getElementById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).style.fontSize = 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"35px"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;</a:t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228600" marR="228600" rtl="0" algn="l">
              <a:lnSpc>
                <a:spcPct val="110795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333333"/>
              </a:solidFill>
              <a:highlight>
                <a:srgbClr val="FFFFFF"/>
              </a:highlight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3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Cambiar Estilos CSS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1" name="Google Shape;9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4125" y="3051000"/>
            <a:ext cx="6057900" cy="139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/>
              <a:t>Actividad: Implementar, comprender y personalizar el código en Visual Studio Code y compartir. (5 minutos)</a:t>
            </a:r>
            <a:endParaRPr sz="2200"/>
          </a:p>
          <a:p>
            <a:pPr indent="-368300" lvl="0" marL="457200" rtl="0" algn="l">
              <a:spcBef>
                <a:spcPts val="1600"/>
              </a:spcBef>
              <a:spcAft>
                <a:spcPts val="0"/>
              </a:spcAft>
              <a:buSzPts val="2200"/>
              <a:buAutoNum type="arabicPeriod"/>
            </a:pPr>
            <a:r>
              <a:rPr lang="es" sz="2200"/>
              <a:t>Abrir Visual Studio Code.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" sz="2200"/>
              <a:t>Crear una carpeta (Clase 4) y una vez dentro, c</a:t>
            </a:r>
            <a:r>
              <a:rPr lang="es" sz="2200"/>
              <a:t>rear 1 archivo: estilos.html</a:t>
            </a:r>
            <a:endParaRPr sz="22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mejoras!: </a:t>
            </a:r>
            <a:r>
              <a:rPr lang="es">
                <a:solidFill>
                  <a:schemeClr val="accent6"/>
                </a:solidFill>
              </a:rPr>
              <a:t>Botón para achicar el texto.</a:t>
            </a:r>
            <a:endParaRPr>
              <a:solidFill>
                <a:schemeClr val="accent6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Compartir el código!</a:t>
            </a:r>
            <a:br>
              <a:rPr lang="es" sz="2200"/>
            </a:br>
            <a:r>
              <a:rPr lang="es" sz="2200" u="sng">
                <a:solidFill>
                  <a:schemeClr val="hlink"/>
                </a:solidFill>
                <a:hlinkClick r:id="rId3"/>
              </a:rPr>
              <a:t>https://onecompiler.com/html/438ds5hrz</a:t>
            </a:r>
            <a:endParaRPr sz="22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97" name="Google Shape;97;p14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Actividad 1: Cambiar Estilos CSS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 pueden ocultar elementos HTML cambiando el display: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7020"/>
                </a:solidFill>
                <a:highlight>
                  <a:srgbClr val="FFFFFF"/>
                </a:highlight>
              </a:rPr>
              <a:t>document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.</a:t>
            </a:r>
            <a:r>
              <a:rPr lang="es">
                <a:solidFill>
                  <a:srgbClr val="016CFF"/>
                </a:solidFill>
                <a:highlight>
                  <a:srgbClr val="FFFFFF"/>
                </a:highlight>
              </a:rPr>
              <a:t>getElementById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).style.display = 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"none"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;</a:t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228600" marR="228600" rtl="0" algn="l">
              <a:lnSpc>
                <a:spcPct val="110795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Ocultar elementos HTML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6664100" y="210775"/>
            <a:ext cx="2541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 sz="1600">
                <a:latin typeface="Roboto"/>
                <a:ea typeface="Roboto"/>
                <a:cs typeface="Roboto"/>
                <a:sym typeface="Roboto"/>
              </a:rPr>
            </a:br>
            <a:r>
              <a:rPr lang="es" sz="16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76513" y="2883513"/>
            <a:ext cx="3990975" cy="155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 pueden mostrar elementos HTML cambiando el display: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7020"/>
                </a:solidFill>
                <a:highlight>
                  <a:srgbClr val="FFFFFF"/>
                </a:highlight>
              </a:rPr>
              <a:t>document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.</a:t>
            </a:r>
            <a:r>
              <a:rPr lang="es">
                <a:solidFill>
                  <a:srgbClr val="016CFF"/>
                </a:solidFill>
                <a:highlight>
                  <a:srgbClr val="FFFFFF"/>
                </a:highlight>
              </a:rPr>
              <a:t>getElementById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).style.display = 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block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</a:t>
            </a:r>
            <a:r>
              <a:rPr lang="es">
                <a:solidFill>
                  <a:srgbClr val="333333"/>
                </a:solidFill>
                <a:highlight>
                  <a:srgbClr val="FFFFFF"/>
                </a:highlight>
              </a:rPr>
              <a:t>;</a:t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228600" marR="228600" rtl="0" algn="l">
              <a:lnSpc>
                <a:spcPct val="110795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6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Mostrar elementos HTML</a:t>
            </a: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3" name="Google Shape;11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19350" y="2687513"/>
            <a:ext cx="4305300" cy="164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/>
              <a:t>Actividad: Implementar, comprender y personalizar el código en Visual Studio Code y compartir. (5 minutos)</a:t>
            </a:r>
            <a:endParaRPr sz="2200"/>
          </a:p>
          <a:p>
            <a:pPr indent="-368300" lvl="0" marL="457200" rtl="0" algn="l">
              <a:spcBef>
                <a:spcPts val="1600"/>
              </a:spcBef>
              <a:spcAft>
                <a:spcPts val="0"/>
              </a:spcAft>
              <a:buSzPts val="2200"/>
              <a:buAutoNum type="arabicPeriod"/>
            </a:pPr>
            <a:r>
              <a:rPr lang="es" sz="2200"/>
              <a:t>Abrir Visual Studio Code.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" sz="2200"/>
              <a:t>Crear 1 archivo: ocultar.html</a:t>
            </a:r>
            <a:endParaRPr sz="22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mejoras!: </a:t>
            </a:r>
            <a:r>
              <a:rPr lang="es">
                <a:solidFill>
                  <a:schemeClr val="accent6"/>
                </a:solidFill>
              </a:rPr>
              <a:t>Botón para mostrar</a:t>
            </a:r>
            <a:endParaRPr>
              <a:solidFill>
                <a:schemeClr val="accent6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Compartir el código!</a:t>
            </a:r>
            <a:br>
              <a:rPr lang="es" sz="2200"/>
            </a:br>
            <a:r>
              <a:rPr lang="es" sz="2200" u="sng">
                <a:solidFill>
                  <a:schemeClr val="hlink"/>
                </a:solidFill>
                <a:hlinkClick r:id="rId3"/>
              </a:rPr>
              <a:t>https://onecompiler.com/html/438dsnrt4</a:t>
            </a:r>
            <a:endParaRPr sz="22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119" name="Google Shape;119;p17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Actividad 2: Ocultar Elementos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 la etiqueta de JavaScript y permite </a:t>
            </a:r>
            <a:r>
              <a:rPr lang="es"/>
              <a:t>insertar c</a:t>
            </a:r>
            <a:r>
              <a:rPr lang="es"/>
              <a:t>ódigo</a:t>
            </a:r>
            <a:r>
              <a:rPr lang="es"/>
              <a:t> en un archivo HTML.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En HTML e</a:t>
            </a:r>
            <a:r>
              <a:rPr lang="es"/>
              <a:t>l código JavaScript debe insertarse entre etiquetas: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accent1"/>
                </a:solidFill>
              </a:rPr>
              <a:t>&lt;script&gt;</a:t>
            </a:r>
            <a:br>
              <a:rPr lang="es"/>
            </a:br>
            <a:r>
              <a:rPr lang="es"/>
              <a:t>	</a:t>
            </a:r>
            <a:r>
              <a:rPr lang="es">
                <a:solidFill>
                  <a:srgbClr val="007020"/>
                </a:solidFill>
                <a:highlight>
                  <a:schemeClr val="lt1"/>
                </a:highlight>
              </a:rPr>
              <a:t>document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.</a:t>
            </a:r>
            <a:r>
              <a:rPr lang="es">
                <a:solidFill>
                  <a:srgbClr val="016CFF"/>
                </a:solidFill>
                <a:highlight>
                  <a:schemeClr val="lt1"/>
                </a:highlight>
              </a:rPr>
              <a:t>getElementById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).innerHTML = 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"Hello"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;</a:t>
            </a:r>
            <a:br>
              <a:rPr lang="es">
                <a:solidFill>
                  <a:srgbClr val="333333"/>
                </a:solidFill>
                <a:highlight>
                  <a:schemeClr val="lt1"/>
                </a:highlight>
              </a:rPr>
            </a:br>
            <a:r>
              <a:rPr lang="es">
                <a:solidFill>
                  <a:schemeClr val="accent1"/>
                </a:solidFill>
              </a:rPr>
              <a:t>&lt;/script&gt;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8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¿Qué es l</a:t>
            </a:r>
            <a:r>
              <a:rPr lang="es"/>
              <a:t>a etiqueta </a:t>
            </a:r>
            <a:r>
              <a:rPr lang="es">
                <a:solidFill>
                  <a:srgbClr val="A4C2F4"/>
                </a:solidFill>
              </a:rPr>
              <a:t>&lt;script&gt;</a:t>
            </a:r>
            <a:r>
              <a:rPr lang="es"/>
              <a:t>?</a:t>
            </a:r>
            <a:endParaRPr/>
          </a:p>
        </p:txBody>
      </p:sp>
      <p:sp>
        <p:nvSpPr>
          <p:cNvPr id="126" name="Google Shape;126;p18"/>
          <p:cNvSpPr txBox="1"/>
          <p:nvPr/>
        </p:nvSpPr>
        <p:spPr>
          <a:xfrm>
            <a:off x="6664100" y="210775"/>
            <a:ext cx="2541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 sz="1600">
                <a:latin typeface="Roboto"/>
                <a:ea typeface="Roboto"/>
                <a:cs typeface="Roboto"/>
                <a:sym typeface="Roboto"/>
              </a:rPr>
            </a:br>
            <a:r>
              <a:rPr lang="es" sz="16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</a:t>
            </a:r>
            <a:r>
              <a:rPr lang="es"/>
              <a:t>e puede colocar en la sección &lt;body&gt; o &lt;head&gt;.</a:t>
            </a:r>
            <a:endParaRPr/>
          </a:p>
          <a:p>
            <a:pPr indent="0" lvl="0" marL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000"/>
                </a:solidFill>
              </a:rPr>
              <a:t>&lt;html&gt;</a:t>
            </a:r>
            <a:br>
              <a:rPr lang="es">
                <a:solidFill>
                  <a:srgbClr val="333333"/>
                </a:solidFill>
              </a:rPr>
            </a:br>
            <a:r>
              <a:rPr lang="es">
                <a:solidFill>
                  <a:srgbClr val="333333"/>
                </a:solidFill>
              </a:rPr>
              <a:t>	</a:t>
            </a:r>
            <a:r>
              <a:rPr b="1" lang="es">
                <a:solidFill>
                  <a:srgbClr val="008000"/>
                </a:solidFill>
              </a:rPr>
              <a:t>&lt;body&gt;</a:t>
            </a:r>
            <a:br>
              <a:rPr lang="es">
                <a:solidFill>
                  <a:srgbClr val="333333"/>
                </a:solidFill>
              </a:rPr>
            </a:br>
            <a:r>
              <a:rPr lang="es">
                <a:solidFill>
                  <a:srgbClr val="333333"/>
                </a:solidFill>
              </a:rPr>
              <a:t>		</a:t>
            </a:r>
            <a:r>
              <a:rPr lang="es">
                <a:solidFill>
                  <a:srgbClr val="016CFF"/>
                </a:solidFill>
              </a:rPr>
              <a:t>&lt;script&gt;</a:t>
            </a:r>
            <a:r>
              <a:rPr lang="es">
                <a:solidFill>
                  <a:schemeClr val="accent3"/>
                </a:solidFill>
              </a:rPr>
              <a:t> </a:t>
            </a:r>
            <a:r>
              <a:rPr lang="es">
                <a:solidFill>
                  <a:srgbClr val="888888"/>
                </a:solidFill>
              </a:rPr>
              <a:t>...</a:t>
            </a:r>
            <a:r>
              <a:rPr lang="es">
                <a:solidFill>
                  <a:schemeClr val="accent3"/>
                </a:solidFill>
              </a:rPr>
              <a:t> </a:t>
            </a:r>
            <a:r>
              <a:rPr lang="es">
                <a:solidFill>
                  <a:srgbClr val="016CFF"/>
                </a:solidFill>
              </a:rPr>
              <a:t>&lt;/script&gt;</a:t>
            </a:r>
            <a:endParaRPr b="1">
              <a:solidFill>
                <a:srgbClr val="016CFF"/>
              </a:solidFill>
            </a:endParaRPr>
          </a:p>
          <a:p>
            <a:pPr indent="457200" lvl="0" marL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000"/>
                </a:solidFill>
              </a:rPr>
              <a:t>&lt;/body&gt;</a:t>
            </a:r>
            <a:br>
              <a:rPr lang="es">
                <a:solidFill>
                  <a:srgbClr val="333333"/>
                </a:solidFill>
              </a:rPr>
            </a:br>
            <a:r>
              <a:rPr b="1" lang="es">
                <a:solidFill>
                  <a:srgbClr val="008000"/>
                </a:solidFill>
              </a:rPr>
              <a:t>&lt;/html&gt;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600"/>
              </a:spcAft>
              <a:buNone/>
            </a:pPr>
            <a:r>
              <a:rPr lang="es"/>
              <a:t>* Muchos programadores recomiendan colocar el </a:t>
            </a:r>
            <a:r>
              <a:rPr lang="es">
                <a:solidFill>
                  <a:srgbClr val="016CFF"/>
                </a:solidFill>
              </a:rPr>
              <a:t>&lt;script&gt;</a:t>
            </a:r>
            <a:r>
              <a:rPr lang="es"/>
              <a:t> al final del body porque</a:t>
            </a:r>
            <a:r>
              <a:rPr lang="es"/>
              <a:t> </a:t>
            </a:r>
            <a:r>
              <a:rPr lang="es"/>
              <a:t>mejora la velocidad.</a:t>
            </a:r>
            <a:br>
              <a:rPr lang="es"/>
            </a:br>
            <a:r>
              <a:rPr lang="es" u="sng">
                <a:solidFill>
                  <a:schemeClr val="hlink"/>
                </a:solidFill>
                <a:hlinkClick r:id="rId3"/>
              </a:rPr>
              <a:t>Javascript en el Head o en el cierre del body?</a:t>
            </a:r>
            <a:endParaRPr/>
          </a:p>
        </p:txBody>
      </p:sp>
      <p:sp>
        <p:nvSpPr>
          <p:cNvPr id="132" name="Google Shape;132;p19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</a:t>
            </a:r>
            <a:r>
              <a:rPr lang="es"/>
              <a:t>Dónde</a:t>
            </a:r>
            <a:r>
              <a:rPr lang="es"/>
              <a:t> se ubica el </a:t>
            </a:r>
            <a:r>
              <a:rPr lang="es">
                <a:solidFill>
                  <a:srgbClr val="A4C2F4"/>
                </a:solidFill>
              </a:rPr>
              <a:t>&lt;script&gt;</a:t>
            </a:r>
            <a:r>
              <a:rPr lang="es"/>
              <a:t>?</a:t>
            </a:r>
            <a:endParaRPr/>
          </a:p>
        </p:txBody>
      </p:sp>
      <p:sp>
        <p:nvSpPr>
          <p:cNvPr id="133" name="Google Shape;133;p19"/>
          <p:cNvSpPr txBox="1"/>
          <p:nvPr/>
        </p:nvSpPr>
        <p:spPr>
          <a:xfrm>
            <a:off x="6664100" y="210775"/>
            <a:ext cx="2541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 sz="1600">
                <a:latin typeface="Roboto"/>
                <a:ea typeface="Roboto"/>
                <a:cs typeface="Roboto"/>
                <a:sym typeface="Roboto"/>
              </a:rPr>
            </a:br>
            <a:r>
              <a:rPr lang="es" sz="16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https://w3schools.com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0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</a:t>
            </a:r>
            <a:r>
              <a:rPr lang="es"/>
              <a:t>ambién se pueden colocar en archivos externos que son llamados.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">
                <a:solidFill>
                  <a:schemeClr val="accent3"/>
                </a:solidFill>
              </a:rPr>
              <a:t>&lt;script</a:t>
            </a:r>
            <a:r>
              <a:rPr lang="es"/>
              <a:t> src="</a:t>
            </a:r>
            <a:r>
              <a:rPr lang="es">
                <a:solidFill>
                  <a:schemeClr val="accent2"/>
                </a:solidFill>
              </a:rPr>
              <a:t>myScript.js</a:t>
            </a:r>
            <a:r>
              <a:rPr lang="es"/>
              <a:t>"&gt;</a:t>
            </a:r>
            <a:r>
              <a:rPr lang="es">
                <a:solidFill>
                  <a:schemeClr val="accent3"/>
                </a:solidFill>
              </a:rPr>
              <a:t>&lt;/script&gt;</a:t>
            </a:r>
            <a:endParaRPr/>
          </a:p>
        </p:txBody>
      </p:sp>
      <p:sp>
        <p:nvSpPr>
          <p:cNvPr id="139" name="Google Shape;139;p20"/>
          <p:cNvSpPr txBox="1"/>
          <p:nvPr>
            <p:ph type="title"/>
          </p:nvPr>
        </p:nvSpPr>
        <p:spPr>
          <a:xfrm>
            <a:off x="2205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JavaScript en Archivo Externo</a:t>
            </a:r>
            <a:endParaRPr/>
          </a:p>
        </p:txBody>
      </p:sp>
      <p:sp>
        <p:nvSpPr>
          <p:cNvPr id="140" name="Google Shape;140;p20"/>
          <p:cNvSpPr txBox="1"/>
          <p:nvPr/>
        </p:nvSpPr>
        <p:spPr>
          <a:xfrm>
            <a:off x="6886925" y="210775"/>
            <a:ext cx="2318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 sz="1600">
                <a:latin typeface="Roboto"/>
                <a:ea typeface="Roboto"/>
                <a:cs typeface="Roboto"/>
                <a:sym typeface="Roboto"/>
              </a:rPr>
            </a:br>
            <a:r>
              <a:rPr lang="es" sz="16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311700" y="1138175"/>
            <a:ext cx="8799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/>
              <a:t>🧼 Código limpio y organizado:</a:t>
            </a:r>
            <a:r>
              <a:rPr lang="es" sz="2300"/>
              <a:t> Separar el HTML del JavaScript hace que cada archivo tenga su rol claro.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/>
              <a:t>🔁 Reutilización fácil:</a:t>
            </a:r>
            <a:r>
              <a:rPr lang="es" sz="2300"/>
              <a:t> Podés usar el mismo archivo JavaScript en varias páginas. 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/>
              <a:t>🚀 Mejora el rendimiento:</a:t>
            </a:r>
            <a:r>
              <a:rPr lang="es" sz="2300"/>
              <a:t> Los navegadores pueden guardar en caché el archivo externo, lo que acelera la carga en visitas futuras.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/>
              <a:t>👨‍💻 Trabajo en equipo:</a:t>
            </a:r>
            <a:r>
              <a:rPr lang="es" sz="2300"/>
              <a:t> En proyectos grandes, distintos miembros pueden trabajar en HTML, CSS y JS sin pisarse.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 sz="2300"/>
          </a:p>
        </p:txBody>
      </p:sp>
      <p:sp>
        <p:nvSpPr>
          <p:cNvPr id="146" name="Google Shape;146;p21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Ventajas de JavaScript Externo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/>
              <a:t>Actividad: Implementar, comprender y personalizar el código en Visual Studio Code y compartir. (5 minutos)</a:t>
            </a:r>
            <a:endParaRPr sz="2200"/>
          </a:p>
          <a:p>
            <a:pPr indent="-368300" lvl="0" marL="457200" rtl="0" algn="l">
              <a:spcBef>
                <a:spcPts val="1600"/>
              </a:spcBef>
              <a:spcAft>
                <a:spcPts val="0"/>
              </a:spcAft>
              <a:buSzPts val="2200"/>
              <a:buAutoNum type="arabicPeriod"/>
            </a:pPr>
            <a:r>
              <a:rPr lang="es" sz="2200"/>
              <a:t>Abrir Visual Studio Code.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" sz="2200"/>
              <a:t>Crear 1 archivo: mostrar.html</a:t>
            </a:r>
            <a:endParaRPr sz="22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 </a:t>
            </a:r>
            <a:r>
              <a:rPr lang="es">
                <a:solidFill>
                  <a:schemeClr val="accent6"/>
                </a:solidFill>
              </a:rPr>
              <a:t>que el script sea externo</a:t>
            </a:r>
            <a:endParaRPr>
              <a:solidFill>
                <a:schemeClr val="accent6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Compartir el código!</a:t>
            </a:r>
            <a:br>
              <a:rPr lang="es"/>
            </a:br>
            <a:r>
              <a:rPr lang="es" u="sng">
                <a:solidFill>
                  <a:schemeClr val="hlink"/>
                </a:solidFill>
                <a:hlinkClick r:id="rId3"/>
              </a:rPr>
              <a:t>https://onecompiler.com/html/438dsvzsr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2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 3: Mostrar y Ocultar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idx="1" type="body"/>
          </p:nvPr>
        </p:nvSpPr>
        <p:spPr>
          <a:xfrm>
            <a:off x="311700" y="1138174"/>
            <a:ext cx="8520600" cy="380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 opcional terminar una </a:t>
            </a:r>
            <a:r>
              <a:rPr lang="es"/>
              <a:t>línea</a:t>
            </a:r>
            <a:r>
              <a:rPr lang="es"/>
              <a:t> de código con punto y coma.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accent1"/>
                </a:solidFill>
              </a:rPr>
              <a:t>&lt;script&gt;</a:t>
            </a:r>
            <a:br>
              <a:rPr lang="es"/>
            </a:br>
            <a:r>
              <a:rPr lang="es"/>
              <a:t>	</a:t>
            </a:r>
            <a:r>
              <a:rPr lang="es">
                <a:solidFill>
                  <a:srgbClr val="007020"/>
                </a:solidFill>
                <a:highlight>
                  <a:schemeClr val="lt1"/>
                </a:highlight>
              </a:rPr>
              <a:t>document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.</a:t>
            </a:r>
            <a:r>
              <a:rPr lang="es">
                <a:solidFill>
                  <a:srgbClr val="016CFF"/>
                </a:solidFill>
                <a:highlight>
                  <a:schemeClr val="lt1"/>
                </a:highlight>
              </a:rPr>
              <a:t>getElementById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).innerHTML = 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"Hello"</a:t>
            </a:r>
            <a:r>
              <a:rPr lang="es">
                <a:solidFill>
                  <a:srgbClr val="333333"/>
                </a:solidFill>
                <a:highlight>
                  <a:schemeClr val="lt1"/>
                </a:highlight>
              </a:rPr>
              <a:t> </a:t>
            </a:r>
            <a:br>
              <a:rPr lang="es">
                <a:solidFill>
                  <a:srgbClr val="333333"/>
                </a:solidFill>
                <a:highlight>
                  <a:schemeClr val="lt1"/>
                </a:highlight>
              </a:rPr>
            </a:br>
            <a:r>
              <a:rPr lang="es">
                <a:solidFill>
                  <a:schemeClr val="accent1"/>
                </a:solidFill>
              </a:rPr>
              <a:t>&lt;/script&gt;</a:t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"/>
              <a:t>JavaScript posee: </a:t>
            </a:r>
            <a:r>
              <a:rPr lang="es">
                <a:solidFill>
                  <a:schemeClr val="accent1"/>
                </a:solidFill>
              </a:rPr>
              <a:t>Automatic Semicolon Insertion.</a:t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s" u="sng">
                <a:solidFill>
                  <a:schemeClr val="hlink"/>
                </a:solidFill>
                <a:hlinkClick r:id="rId3"/>
              </a:rPr>
              <a:t>Artículo: Punto y coma en JavaScript</a:t>
            </a:r>
            <a:endParaRPr/>
          </a:p>
        </p:txBody>
      </p:sp>
      <p:sp>
        <p:nvSpPr>
          <p:cNvPr id="158" name="Google Shape;158;p23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 opcional terminar con punto y coma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JavaScript puede "mostrar" datos de diferentes maneras:</a:t>
            </a:r>
            <a:endParaRPr/>
          </a:p>
          <a:p>
            <a:pPr indent="-381000" lvl="0" marL="457200" rtl="0" algn="l">
              <a:spcBef>
                <a:spcPts val="160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Escribir en un elemento HTML, usando innerHTML.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Mostrar en la salida HTML usando document.write().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Mostrar en un cuadro de alerta, usando window.alert().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Mostrar en la consola del navegador, usando console.log().</a:t>
            </a:r>
            <a:endParaRPr/>
          </a:p>
        </p:txBody>
      </p:sp>
      <p:sp>
        <p:nvSpPr>
          <p:cNvPr id="164" name="Google Shape;164;p24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¿Cómo mostrar datos en JavaScript?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5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Para acceder a un elemento HTML, JS puede usar el método </a:t>
            </a:r>
            <a:r>
              <a:rPr lang="es">
                <a:solidFill>
                  <a:schemeClr val="accent3"/>
                </a:solidFill>
              </a:rPr>
              <a:t>document.</a:t>
            </a:r>
            <a:r>
              <a:rPr lang="es">
                <a:solidFill>
                  <a:srgbClr val="016CFF"/>
                </a:solidFill>
              </a:rPr>
              <a:t>getElementById</a:t>
            </a:r>
            <a:r>
              <a:rPr lang="es">
                <a:solidFill>
                  <a:schemeClr val="accent3"/>
                </a:solidFill>
              </a:rPr>
              <a:t> (id).</a:t>
            </a:r>
            <a:endParaRPr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El atributo id define el elemento HTML. </a:t>
            </a:r>
            <a:br>
              <a:rPr lang="es"/>
            </a:br>
            <a:r>
              <a:rPr lang="es"/>
              <a:t>La propiedad innerHTML define el contenido HTML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p</a:t>
            </a:r>
            <a:r>
              <a:rPr lang="es">
                <a:solidFill>
                  <a:srgbClr val="FF0000"/>
                </a:solidFill>
              </a:rPr>
              <a:t> id</a:t>
            </a:r>
            <a:r>
              <a:rPr lang="es">
                <a:solidFill>
                  <a:srgbClr val="0000CD"/>
                </a:solidFill>
              </a:rPr>
              <a:t>="demo"&gt;&lt;</a:t>
            </a:r>
            <a:r>
              <a:rPr lang="es">
                <a:solidFill>
                  <a:srgbClr val="A52A2A"/>
                </a:solidFill>
              </a:rPr>
              <a:t>/p</a:t>
            </a:r>
            <a:r>
              <a:rPr lang="es">
                <a:solidFill>
                  <a:srgbClr val="0000CD"/>
                </a:solidFill>
              </a:rPr>
              <a:t>&gt;</a:t>
            </a:r>
            <a:endParaRPr>
              <a:solidFill>
                <a:srgbClr val="0000CD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38761D"/>
                </a:solidFill>
                <a:highlight>
                  <a:srgbClr val="FFFFFF"/>
                </a:highlight>
              </a:rPr>
              <a:t>document</a:t>
            </a:r>
            <a:r>
              <a:rPr lang="es">
                <a:highlight>
                  <a:srgbClr val="FFFFFF"/>
                </a:highlight>
              </a:rPr>
              <a:t>.</a:t>
            </a:r>
            <a:r>
              <a:rPr lang="es">
                <a:solidFill>
                  <a:schemeClr val="accent3"/>
                </a:solidFill>
                <a:highlight>
                  <a:srgbClr val="FFFFFF"/>
                </a:highlight>
              </a:rPr>
              <a:t>getElementById</a:t>
            </a:r>
            <a:r>
              <a:rPr lang="es">
                <a:highlight>
                  <a:srgbClr val="FFFFFF"/>
                </a:highlight>
              </a:rPr>
              <a:t>(</a:t>
            </a:r>
            <a:r>
              <a:rPr lang="es">
                <a:solidFill>
                  <a:srgbClr val="A52A2A"/>
                </a:solidFill>
                <a:highlight>
                  <a:srgbClr val="FFFFFF"/>
                </a:highlight>
              </a:rPr>
              <a:t>"demo"</a:t>
            </a:r>
            <a:r>
              <a:rPr lang="es">
                <a:highlight>
                  <a:srgbClr val="FFFFFF"/>
                </a:highlight>
              </a:rPr>
              <a:t>).innerHTML = </a:t>
            </a:r>
            <a:r>
              <a:rPr lang="es">
                <a:solidFill>
                  <a:srgbClr val="FF0000"/>
                </a:solidFill>
                <a:highlight>
                  <a:srgbClr val="FFFFFF"/>
                </a:highlight>
              </a:rPr>
              <a:t>5</a:t>
            </a:r>
            <a:r>
              <a:rPr lang="es">
                <a:highlight>
                  <a:srgbClr val="FFFFFF"/>
                </a:highlight>
              </a:rPr>
              <a:t> + </a:t>
            </a:r>
            <a:r>
              <a:rPr lang="es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es">
                <a:highlight>
                  <a:srgbClr val="FFFFFF"/>
                </a:highlight>
              </a:rPr>
              <a:t>;</a:t>
            </a:r>
            <a:endParaRPr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5"/>
          <p:cNvSpPr txBox="1"/>
          <p:nvPr>
            <p:ph type="title"/>
          </p:nvPr>
        </p:nvSpPr>
        <p:spPr>
          <a:xfrm>
            <a:off x="2205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1.Mostrar usando innerHTML</a:t>
            </a:r>
            <a:endParaRPr/>
          </a:p>
        </p:txBody>
      </p:sp>
      <p:sp>
        <p:nvSpPr>
          <p:cNvPr id="171" name="Google Shape;171;p25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https://www.w3schools.com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6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 similar al comando print de PHP y muchos otros lenguajes.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&lt;</a:t>
            </a:r>
            <a:r>
              <a:rPr lang="es" sz="2600">
                <a:solidFill>
                  <a:srgbClr val="016CFF"/>
                </a:solidFill>
                <a:latin typeface="Arial"/>
                <a:ea typeface="Arial"/>
                <a:cs typeface="Arial"/>
                <a:sym typeface="Arial"/>
              </a:rPr>
              <a:t>script</a:t>
            </a: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b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s" sz="2600">
                <a:solidFill>
                  <a:srgbClr val="A535AE"/>
                </a:solidFill>
                <a:latin typeface="Arial"/>
                <a:ea typeface="Arial"/>
                <a:cs typeface="Arial"/>
                <a:sym typeface="Arial"/>
              </a:rPr>
              <a:t>document</a:t>
            </a: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s" sz="2600">
                <a:solidFill>
                  <a:srgbClr val="45AE34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s" sz="26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'Hola Mundo'</a:t>
            </a: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);</a:t>
            </a:r>
            <a:b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s" sz="2600">
                <a:solidFill>
                  <a:srgbClr val="016CFF"/>
                </a:solidFill>
                <a:latin typeface="Arial"/>
                <a:ea typeface="Arial"/>
                <a:cs typeface="Arial"/>
                <a:sym typeface="Arial"/>
              </a:rPr>
              <a:t>script</a:t>
            </a:r>
            <a:r>
              <a:rPr lang="es" sz="26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6"/>
          <p:cNvSpPr txBox="1"/>
          <p:nvPr>
            <p:ph type="title"/>
          </p:nvPr>
        </p:nvSpPr>
        <p:spPr>
          <a:xfrm>
            <a:off x="2967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2.Mostrar con document.write()</a:t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7174375" y="210775"/>
            <a:ext cx="2031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7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Puede usar un cuadro de alerta para mostrar datos: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script</a:t>
            </a:r>
            <a:r>
              <a:rPr lang="es">
                <a:solidFill>
                  <a:srgbClr val="0000CD"/>
                </a:solidFill>
              </a:rPr>
              <a:t>&gt;</a:t>
            </a:r>
            <a:endParaRPr>
              <a:solidFill>
                <a:srgbClr val="0000CD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alert(</a:t>
            </a:r>
            <a:r>
              <a:rPr lang="es">
                <a:solidFill>
                  <a:srgbClr val="FF0000"/>
                </a:solidFill>
              </a:rPr>
              <a:t>5</a:t>
            </a:r>
            <a:r>
              <a:rPr lang="es"/>
              <a:t> + </a:t>
            </a:r>
            <a:r>
              <a:rPr lang="es">
                <a:solidFill>
                  <a:srgbClr val="FF0000"/>
                </a:solidFill>
              </a:rPr>
              <a:t>6</a:t>
            </a:r>
            <a:r>
              <a:rPr lang="es"/>
              <a:t>);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/script</a:t>
            </a:r>
            <a:r>
              <a:rPr lang="es">
                <a:solidFill>
                  <a:srgbClr val="0000CD"/>
                </a:solidFill>
              </a:rPr>
              <a:t>&gt;</a:t>
            </a:r>
            <a:endParaRPr>
              <a:solidFill>
                <a:srgbClr val="0000CD"/>
              </a:solidFill>
            </a:endParaRPr>
          </a:p>
        </p:txBody>
      </p:sp>
      <p:sp>
        <p:nvSpPr>
          <p:cNvPr id="184" name="Google Shape;184;p27"/>
          <p:cNvSpPr txBox="1"/>
          <p:nvPr>
            <p:ph type="title"/>
          </p:nvPr>
        </p:nvSpPr>
        <p:spPr>
          <a:xfrm>
            <a:off x="253950" y="17506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/>
              <a:t>3.Mostrar en un cuadro de alerta</a:t>
            </a:r>
            <a:endParaRPr sz="3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</p:txBody>
      </p:sp>
      <p:sp>
        <p:nvSpPr>
          <p:cNvPr id="185" name="Google Shape;185;p27"/>
          <p:cNvSpPr txBox="1"/>
          <p:nvPr/>
        </p:nvSpPr>
        <p:spPr>
          <a:xfrm>
            <a:off x="6975850" y="210775"/>
            <a:ext cx="222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8"/>
          <p:cNvSpPr txBox="1"/>
          <p:nvPr>
            <p:ph idx="1" type="body"/>
          </p:nvPr>
        </p:nvSpPr>
        <p:spPr>
          <a:xfrm>
            <a:off x="311700" y="1138176"/>
            <a:ext cx="8520600" cy="291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Puede usar el método console.log() para mostrar datos en la consola del Navegador.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script</a:t>
            </a:r>
            <a:r>
              <a:rPr lang="es">
                <a:solidFill>
                  <a:srgbClr val="0000CD"/>
                </a:solidFill>
              </a:rPr>
              <a:t>&gt;</a:t>
            </a:r>
            <a:br>
              <a:rPr lang="es">
                <a:solidFill>
                  <a:srgbClr val="0000CD"/>
                </a:solidFill>
              </a:rPr>
            </a:br>
            <a:r>
              <a:rPr lang="es"/>
              <a:t>console.log(</a:t>
            </a:r>
            <a:r>
              <a:rPr lang="es">
                <a:solidFill>
                  <a:srgbClr val="FF0000"/>
                </a:solidFill>
              </a:rPr>
              <a:t>5</a:t>
            </a:r>
            <a:r>
              <a:rPr lang="es"/>
              <a:t> + </a:t>
            </a:r>
            <a:r>
              <a:rPr lang="es">
                <a:solidFill>
                  <a:srgbClr val="FF0000"/>
                </a:solidFill>
              </a:rPr>
              <a:t>5</a:t>
            </a:r>
            <a:r>
              <a:rPr lang="es"/>
              <a:t>);</a:t>
            </a:r>
            <a:br>
              <a:rPr lang="es"/>
            </a:b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/script</a:t>
            </a:r>
            <a:r>
              <a:rPr lang="es">
                <a:solidFill>
                  <a:srgbClr val="0000CD"/>
                </a:solidFill>
              </a:rPr>
              <a:t>&gt;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8"/>
          <p:cNvSpPr txBox="1"/>
          <p:nvPr>
            <p:ph type="title"/>
          </p:nvPr>
        </p:nvSpPr>
        <p:spPr>
          <a:xfrm>
            <a:off x="142155" y="209840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/>
              <a:t>4.Mostrar en la consola del navegador </a:t>
            </a:r>
            <a:endParaRPr sz="3200"/>
          </a:p>
        </p:txBody>
      </p:sp>
      <p:pic>
        <p:nvPicPr>
          <p:cNvPr id="192" name="Google Shape;19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9578" y="2099178"/>
            <a:ext cx="3629900" cy="200315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8"/>
          <p:cNvSpPr txBox="1"/>
          <p:nvPr/>
        </p:nvSpPr>
        <p:spPr>
          <a:xfrm>
            <a:off x="7189425" y="210775"/>
            <a:ext cx="2074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9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 método window.print() permite imprimir el contenido de la página actual.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button</a:t>
            </a:r>
            <a:r>
              <a:rPr lang="es">
                <a:solidFill>
                  <a:srgbClr val="FF0000"/>
                </a:solidFill>
              </a:rPr>
              <a:t> onclick</a:t>
            </a:r>
            <a:r>
              <a:rPr lang="es">
                <a:solidFill>
                  <a:srgbClr val="0000CD"/>
                </a:solidFill>
              </a:rPr>
              <a:t>="window.print()"&gt;</a:t>
            </a:r>
            <a:r>
              <a:rPr lang="es">
                <a:solidFill>
                  <a:srgbClr val="008000"/>
                </a:solidFill>
              </a:rPr>
              <a:t>Print this page</a:t>
            </a:r>
            <a:r>
              <a:rPr lang="es">
                <a:solidFill>
                  <a:srgbClr val="0000CD"/>
                </a:solidFill>
              </a:rPr>
              <a:t>&lt;</a:t>
            </a:r>
            <a:r>
              <a:rPr lang="es">
                <a:solidFill>
                  <a:srgbClr val="A52A2A"/>
                </a:solidFill>
              </a:rPr>
              <a:t>/button</a:t>
            </a:r>
            <a:r>
              <a:rPr lang="es">
                <a:solidFill>
                  <a:srgbClr val="0000CD"/>
                </a:solidFill>
              </a:rPr>
              <a:t>&gt;</a:t>
            </a:r>
            <a:endParaRPr>
              <a:solidFill>
                <a:srgbClr val="0000CD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9"/>
          <p:cNvSpPr txBox="1"/>
          <p:nvPr>
            <p:ph type="title"/>
          </p:nvPr>
        </p:nvSpPr>
        <p:spPr>
          <a:xfrm>
            <a:off x="1443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Opcional: </a:t>
            </a:r>
            <a:r>
              <a:rPr lang="es"/>
              <a:t>Llamar a la Impresora</a:t>
            </a:r>
            <a:endParaRPr/>
          </a:p>
        </p:txBody>
      </p:sp>
      <p:sp>
        <p:nvSpPr>
          <p:cNvPr id="200" name="Google Shape;200;p29"/>
          <p:cNvSpPr txBox="1"/>
          <p:nvPr/>
        </p:nvSpPr>
        <p:spPr>
          <a:xfrm>
            <a:off x="7189425" y="286975"/>
            <a:ext cx="2100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0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 componen de: valores, operadores, expresiones, palabras clave, funciones y comentarios.</a:t>
            </a:r>
            <a:br>
              <a:rPr lang="es"/>
            </a:br>
            <a:r>
              <a:rPr lang="es"/>
              <a:t>Es similar a muchos otros lenguajes.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800"/>
                </a:solidFill>
              </a:rPr>
              <a:t>let</a:t>
            </a:r>
            <a:r>
              <a:rPr lang="es">
                <a:solidFill>
                  <a:srgbClr val="333333"/>
                </a:solidFill>
              </a:rPr>
              <a:t> x, y, z;    	</a:t>
            </a:r>
            <a:r>
              <a:rPr lang="es">
                <a:solidFill>
                  <a:srgbClr val="888888"/>
                </a:solidFill>
              </a:rPr>
              <a:t>// Statement 1</a:t>
            </a:r>
            <a:br>
              <a:rPr lang="es">
                <a:solidFill>
                  <a:srgbClr val="333333"/>
                </a:solidFill>
              </a:rPr>
            </a:br>
            <a:r>
              <a:rPr lang="es">
                <a:solidFill>
                  <a:srgbClr val="333333"/>
                </a:solidFill>
              </a:rPr>
              <a:t>x = </a:t>
            </a:r>
            <a:r>
              <a:rPr b="1" lang="es">
                <a:solidFill>
                  <a:srgbClr val="0000DD"/>
                </a:solidFill>
              </a:rPr>
              <a:t>5</a:t>
            </a:r>
            <a:r>
              <a:rPr lang="es">
                <a:solidFill>
                  <a:srgbClr val="333333"/>
                </a:solidFill>
              </a:rPr>
              <a:t>;          	</a:t>
            </a:r>
            <a:r>
              <a:rPr lang="es">
                <a:solidFill>
                  <a:srgbClr val="888888"/>
                </a:solidFill>
              </a:rPr>
              <a:t>// Statement 2</a:t>
            </a:r>
            <a:br>
              <a:rPr lang="es">
                <a:solidFill>
                  <a:srgbClr val="333333"/>
                </a:solidFill>
              </a:rPr>
            </a:br>
            <a:r>
              <a:rPr lang="es">
                <a:solidFill>
                  <a:srgbClr val="333333"/>
                </a:solidFill>
              </a:rPr>
              <a:t>y = </a:t>
            </a:r>
            <a:r>
              <a:rPr b="1" lang="es">
                <a:solidFill>
                  <a:srgbClr val="0000DD"/>
                </a:solidFill>
              </a:rPr>
              <a:t>6</a:t>
            </a:r>
            <a:r>
              <a:rPr lang="es">
                <a:solidFill>
                  <a:srgbClr val="333333"/>
                </a:solidFill>
              </a:rPr>
              <a:t>;          	</a:t>
            </a:r>
            <a:r>
              <a:rPr lang="es">
                <a:solidFill>
                  <a:srgbClr val="888888"/>
                </a:solidFill>
              </a:rPr>
              <a:t>// Statement 3</a:t>
            </a:r>
            <a:br>
              <a:rPr lang="es">
                <a:solidFill>
                  <a:srgbClr val="333333"/>
                </a:solidFill>
              </a:rPr>
            </a:br>
            <a:r>
              <a:rPr lang="es">
                <a:solidFill>
                  <a:srgbClr val="333333"/>
                </a:solidFill>
              </a:rPr>
              <a:t>z = x + y;      	</a:t>
            </a:r>
            <a:r>
              <a:rPr lang="es">
                <a:solidFill>
                  <a:srgbClr val="888888"/>
                </a:solidFill>
              </a:rPr>
              <a:t>// Statement 4</a:t>
            </a:r>
            <a:endParaRPr>
              <a:solidFill>
                <a:srgbClr val="888888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30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Sentencias</a:t>
            </a:r>
            <a:endParaRPr/>
          </a:p>
        </p:txBody>
      </p:sp>
      <p:sp>
        <p:nvSpPr>
          <p:cNvPr id="207" name="Google Shape;207;p30"/>
          <p:cNvSpPr txBox="1"/>
          <p:nvPr/>
        </p:nvSpPr>
        <p:spPr>
          <a:xfrm>
            <a:off x="7189425" y="210775"/>
            <a:ext cx="2056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1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 utilizan para almacenar valores de datos.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Es similar a muchos otros lenguajes.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800"/>
                </a:solidFill>
              </a:rPr>
              <a:t>let</a:t>
            </a:r>
            <a:r>
              <a:rPr lang="es">
                <a:solidFill>
                  <a:srgbClr val="333333"/>
                </a:solidFill>
              </a:rPr>
              <a:t> x;    </a:t>
            </a:r>
            <a:r>
              <a:rPr lang="es">
                <a:solidFill>
                  <a:srgbClr val="888888"/>
                </a:solidFill>
              </a:rPr>
              <a:t>//Declara la variable</a:t>
            </a:r>
            <a:endParaRPr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0795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333333"/>
                </a:solidFill>
              </a:rPr>
              <a:t>x = </a:t>
            </a:r>
            <a:r>
              <a:rPr b="1" lang="es">
                <a:solidFill>
                  <a:srgbClr val="0000DD"/>
                </a:solidFill>
              </a:rPr>
              <a:t>6</a:t>
            </a:r>
            <a:r>
              <a:rPr lang="es">
                <a:solidFill>
                  <a:srgbClr val="333333"/>
                </a:solidFill>
              </a:rPr>
              <a:t>;    </a:t>
            </a:r>
            <a:r>
              <a:rPr lang="es">
                <a:solidFill>
                  <a:srgbClr val="888888"/>
                </a:solidFill>
              </a:rPr>
              <a:t>//Le asigna el valor 6</a:t>
            </a:r>
            <a:endParaRPr>
              <a:solidFill>
                <a:srgbClr val="888888"/>
              </a:solidFill>
            </a:endParaRPr>
          </a:p>
          <a:p>
            <a:pPr indent="0" lvl="0" marL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888888"/>
              </a:solidFill>
            </a:endParaRPr>
          </a:p>
          <a:p>
            <a:pPr indent="0" lvl="0" marL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15202B"/>
                </a:solidFill>
              </a:rPr>
              <a:t>* También se puede declarar con: var y const (constante).</a:t>
            </a:r>
            <a:br>
              <a:rPr lang="es">
                <a:solidFill>
                  <a:srgbClr val="15202B"/>
                </a:solidFill>
              </a:rPr>
            </a:br>
            <a:r>
              <a:rPr lang="es" u="sng">
                <a:solidFill>
                  <a:schemeClr val="hlink"/>
                </a:solidFill>
                <a:hlinkClick r:id="rId3"/>
              </a:rPr>
              <a:t>var, let y const: ¿Cuál es la diferencia?</a:t>
            </a:r>
            <a:endParaRPr>
              <a:solidFill>
                <a:srgbClr val="15202B"/>
              </a:solidFill>
            </a:endParaRPr>
          </a:p>
          <a:p>
            <a:pPr indent="0" lvl="0" marL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s">
                <a:solidFill>
                  <a:srgbClr val="15202B"/>
                </a:solidFill>
              </a:rPr>
            </a:br>
            <a:endParaRPr>
              <a:solidFill>
                <a:srgbClr val="15202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1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Variables en JavaScript</a:t>
            </a:r>
            <a:endParaRPr/>
          </a:p>
        </p:txBody>
      </p:sp>
      <p:sp>
        <p:nvSpPr>
          <p:cNvPr id="214" name="Google Shape;214;p31"/>
          <p:cNvSpPr txBox="1"/>
          <p:nvPr/>
        </p:nvSpPr>
        <p:spPr>
          <a:xfrm>
            <a:off x="7189425" y="210775"/>
            <a:ext cx="2082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 desea que su código se ejecute en un navegador antiguo/obsoleto. </a:t>
            </a:r>
            <a:r>
              <a:rPr lang="es"/>
              <a:t>En otros casos no conviene.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Var se utilizó por defecto entre 1995 y 2015.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Let y Const se agregaron a JavaScript en 2015.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800"/>
                </a:solidFill>
              </a:rPr>
              <a:t>var</a:t>
            </a:r>
            <a:r>
              <a:rPr lang="es">
                <a:solidFill>
                  <a:srgbClr val="333333"/>
                </a:solidFill>
              </a:rPr>
              <a:t> x = </a:t>
            </a:r>
            <a:r>
              <a:rPr b="1" lang="es">
                <a:solidFill>
                  <a:srgbClr val="0000DD"/>
                </a:solidFill>
              </a:rPr>
              <a:t>5</a:t>
            </a:r>
            <a:r>
              <a:rPr lang="es">
                <a:solidFill>
                  <a:srgbClr val="333333"/>
                </a:solidFill>
              </a:rPr>
              <a:t>;</a:t>
            </a:r>
            <a:br>
              <a:rPr lang="es">
                <a:solidFill>
                  <a:srgbClr val="333333"/>
                </a:solidFill>
              </a:rPr>
            </a:br>
            <a:r>
              <a:rPr b="1" lang="es">
                <a:solidFill>
                  <a:srgbClr val="008800"/>
                </a:solidFill>
              </a:rPr>
              <a:t>var</a:t>
            </a:r>
            <a:r>
              <a:rPr lang="es">
                <a:solidFill>
                  <a:srgbClr val="333333"/>
                </a:solidFill>
              </a:rPr>
              <a:t> y = </a:t>
            </a:r>
            <a:r>
              <a:rPr b="1" lang="es">
                <a:solidFill>
                  <a:srgbClr val="0000DD"/>
                </a:solidFill>
              </a:rPr>
              <a:t>6</a:t>
            </a:r>
            <a:r>
              <a:rPr lang="es">
                <a:solidFill>
                  <a:srgbClr val="333333"/>
                </a:solidFill>
              </a:rPr>
              <a:t>;</a:t>
            </a:r>
            <a:br>
              <a:rPr lang="es">
                <a:solidFill>
                  <a:srgbClr val="333333"/>
                </a:solidFill>
              </a:rPr>
            </a:br>
            <a:r>
              <a:rPr b="1" lang="es">
                <a:solidFill>
                  <a:srgbClr val="008800"/>
                </a:solidFill>
              </a:rPr>
              <a:t>var</a:t>
            </a:r>
            <a:r>
              <a:rPr lang="es">
                <a:solidFill>
                  <a:srgbClr val="333333"/>
                </a:solidFill>
              </a:rPr>
              <a:t> z = x + y;</a:t>
            </a:r>
            <a:endParaRPr>
              <a:solidFill>
                <a:srgbClr val="333333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32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¿Cuándo usar Var?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2"/>
          <p:cNvSpPr txBox="1"/>
          <p:nvPr/>
        </p:nvSpPr>
        <p:spPr>
          <a:xfrm>
            <a:off x="7189425" y="210775"/>
            <a:ext cx="2016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 utiliza para variables que no cambian su valor.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Si cree que el valor de la variable puede cambiar, es mejor utilizar let.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800"/>
                </a:solidFill>
              </a:rPr>
              <a:t>const</a:t>
            </a:r>
            <a:r>
              <a:rPr lang="es">
                <a:solidFill>
                  <a:srgbClr val="333333"/>
                </a:solidFill>
              </a:rPr>
              <a:t> price1 = </a:t>
            </a:r>
            <a:r>
              <a:rPr b="1" lang="es">
                <a:solidFill>
                  <a:srgbClr val="0000DD"/>
                </a:solidFill>
              </a:rPr>
              <a:t>5</a:t>
            </a:r>
            <a:r>
              <a:rPr lang="es">
                <a:solidFill>
                  <a:srgbClr val="333333"/>
                </a:solidFill>
              </a:rPr>
              <a:t>;</a:t>
            </a:r>
            <a:br>
              <a:rPr lang="es">
                <a:solidFill>
                  <a:srgbClr val="333333"/>
                </a:solidFill>
              </a:rPr>
            </a:br>
            <a:r>
              <a:rPr b="1" lang="es">
                <a:solidFill>
                  <a:srgbClr val="008800"/>
                </a:solidFill>
              </a:rPr>
              <a:t>const</a:t>
            </a:r>
            <a:r>
              <a:rPr lang="es">
                <a:solidFill>
                  <a:srgbClr val="333333"/>
                </a:solidFill>
              </a:rPr>
              <a:t> price2 = </a:t>
            </a:r>
            <a:r>
              <a:rPr b="1" lang="es">
                <a:solidFill>
                  <a:srgbClr val="0000DD"/>
                </a:solidFill>
              </a:rPr>
              <a:t>6</a:t>
            </a:r>
            <a:r>
              <a:rPr lang="es">
                <a:solidFill>
                  <a:srgbClr val="333333"/>
                </a:solidFill>
              </a:rPr>
              <a:t>;</a:t>
            </a:r>
            <a:br>
              <a:rPr lang="es">
                <a:solidFill>
                  <a:srgbClr val="333333"/>
                </a:solidFill>
              </a:rPr>
            </a:br>
            <a:r>
              <a:rPr b="1" lang="es">
                <a:solidFill>
                  <a:srgbClr val="008800"/>
                </a:solidFill>
              </a:rPr>
              <a:t>let</a:t>
            </a:r>
            <a:r>
              <a:rPr lang="es">
                <a:solidFill>
                  <a:srgbClr val="333333"/>
                </a:solidFill>
              </a:rPr>
              <a:t> total = price1 + price2;</a:t>
            </a:r>
            <a:endParaRPr>
              <a:solidFill>
                <a:srgbClr val="333333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33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¿Cuándo usar Const?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33"/>
          <p:cNvSpPr txBox="1"/>
          <p:nvPr/>
        </p:nvSpPr>
        <p:spPr>
          <a:xfrm>
            <a:off x="7189425" y="210775"/>
            <a:ext cx="2016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Actividad: Implementar, comprender y personalizar el código en Visual Studio Code y compartir. (5 minutos)</a:t>
            </a:r>
            <a:endParaRPr/>
          </a:p>
          <a:p>
            <a:pPr indent="-381000" lvl="0" marL="457200" rtl="0" algn="l">
              <a:spcBef>
                <a:spcPts val="160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Crear 1 archivo: datos.html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 </a:t>
            </a:r>
            <a:r>
              <a:rPr lang="es">
                <a:solidFill>
                  <a:schemeClr val="accent6"/>
                </a:solidFill>
              </a:rPr>
              <a:t>que el script sea externo</a:t>
            </a:r>
            <a:endParaRPr>
              <a:solidFill>
                <a:schemeClr val="accent6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Compartir el código!</a:t>
            </a:r>
            <a:br>
              <a:rPr lang="es"/>
            </a:br>
            <a:r>
              <a:rPr lang="es" u="sng">
                <a:solidFill>
                  <a:schemeClr val="hlink"/>
                </a:solidFill>
                <a:hlinkClick r:id="rId3"/>
              </a:rPr>
              <a:t>https://onecompiler.com/html/43gqcga3c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4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 4: Mostrar Datos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5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Los valores pueden ser de varios tipos, como números y cadenas.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Por ejemplo, "John" + " " + "Doe", se evalúa como "John Doe":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 u="sng">
                <a:solidFill>
                  <a:schemeClr val="hlink"/>
                </a:solidFill>
                <a:hlinkClick r:id="rId3"/>
              </a:rPr>
              <a:t>https://www.w3schools.com/js/tryit.asp?filename=tryjs_syntax_expressions_strings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5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Concatenar texto</a:t>
            </a:r>
            <a:endParaRPr/>
          </a:p>
        </p:txBody>
      </p:sp>
      <p:sp>
        <p:nvSpPr>
          <p:cNvPr id="241" name="Google Shape;241;p35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https:/.w3schools.com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6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Operadores Matemáticos</a:t>
            </a:r>
            <a:endParaRPr/>
          </a:p>
        </p:txBody>
      </p:sp>
      <p:pic>
        <p:nvPicPr>
          <p:cNvPr id="247" name="Google Shape;247;p36"/>
          <p:cNvPicPr preferRelativeResize="0"/>
          <p:nvPr/>
        </p:nvPicPr>
        <p:blipFill rotWithShape="1">
          <a:blip r:embed="rId3">
            <a:alphaModFix/>
          </a:blip>
          <a:srcRect b="0" l="0" r="0" t="764"/>
          <a:stretch/>
        </p:blipFill>
        <p:spPr>
          <a:xfrm>
            <a:off x="573000" y="969725"/>
            <a:ext cx="5731674" cy="417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 operador de exponenciación (**) eleva al primer operando a la potencia del segundo operando.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008800"/>
                </a:solidFill>
              </a:rPr>
              <a:t>let</a:t>
            </a:r>
            <a:r>
              <a:rPr lang="es">
                <a:solidFill>
                  <a:srgbClr val="333333"/>
                </a:solidFill>
              </a:rPr>
              <a:t> x = </a:t>
            </a:r>
            <a:r>
              <a:rPr b="1" lang="es">
                <a:solidFill>
                  <a:srgbClr val="0000DD"/>
                </a:solidFill>
              </a:rPr>
              <a:t>5</a:t>
            </a:r>
            <a:r>
              <a:rPr lang="es">
                <a:solidFill>
                  <a:srgbClr val="333333"/>
                </a:solidFill>
              </a:rPr>
              <a:t>;</a:t>
            </a:r>
            <a:br>
              <a:rPr lang="es">
                <a:solidFill>
                  <a:srgbClr val="333333"/>
                </a:solidFill>
              </a:rPr>
            </a:br>
            <a:r>
              <a:rPr lang="es">
                <a:solidFill>
                  <a:srgbClr val="007020"/>
                </a:solidFill>
              </a:rPr>
              <a:t>document</a:t>
            </a:r>
            <a:r>
              <a:rPr lang="es">
                <a:solidFill>
                  <a:srgbClr val="333333"/>
                </a:solidFill>
              </a:rPr>
              <a:t>.</a:t>
            </a:r>
            <a:r>
              <a:rPr lang="es">
                <a:solidFill>
                  <a:srgbClr val="016CFF"/>
                </a:solidFill>
              </a:rPr>
              <a:t>getElementById</a:t>
            </a:r>
            <a:r>
              <a:rPr lang="es">
                <a:solidFill>
                  <a:srgbClr val="333333"/>
                </a:solidFill>
              </a:rPr>
              <a:t>(</a:t>
            </a:r>
            <a:r>
              <a:rPr lang="es">
                <a:solidFill>
                  <a:srgbClr val="333333"/>
                </a:solidFill>
                <a:highlight>
                  <a:srgbClr val="FFF0F0"/>
                </a:highlight>
              </a:rPr>
              <a:t>"demo"</a:t>
            </a:r>
            <a:r>
              <a:rPr lang="es">
                <a:solidFill>
                  <a:srgbClr val="333333"/>
                </a:solidFill>
              </a:rPr>
              <a:t>).innerHTML = x ** </a:t>
            </a:r>
            <a:r>
              <a:rPr b="1" lang="es">
                <a:solidFill>
                  <a:srgbClr val="0000DD"/>
                </a:solidFill>
              </a:rPr>
              <a:t>2</a:t>
            </a:r>
            <a:r>
              <a:rPr lang="es">
                <a:solidFill>
                  <a:srgbClr val="333333"/>
                </a:solidFill>
              </a:rPr>
              <a:t>;</a:t>
            </a:r>
            <a:endParaRPr>
              <a:solidFill>
                <a:srgbClr val="333333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7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Exponenciación</a:t>
            </a:r>
            <a:endParaRPr/>
          </a:p>
        </p:txBody>
      </p:sp>
      <p:sp>
        <p:nvSpPr>
          <p:cNvPr id="254" name="Google Shape;254;p37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Las variables pueden contener muchos tipos de datos: números, cadenas y más de forma automática.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00CD"/>
                </a:solidFill>
                <a:highlight>
                  <a:srgbClr val="FFFFFF"/>
                </a:highlight>
              </a:rPr>
              <a:t>let</a:t>
            </a:r>
            <a:r>
              <a:rPr lang="es">
                <a:highlight>
                  <a:srgbClr val="FFFFFF"/>
                </a:highlight>
              </a:rPr>
              <a:t> length = </a:t>
            </a:r>
            <a:r>
              <a:rPr lang="es">
                <a:solidFill>
                  <a:srgbClr val="FF0000"/>
                </a:solidFill>
                <a:highlight>
                  <a:srgbClr val="FFFFFF"/>
                </a:highlight>
              </a:rPr>
              <a:t>16</a:t>
            </a:r>
            <a:r>
              <a:rPr lang="es">
                <a:highlight>
                  <a:srgbClr val="FFFFFF"/>
                </a:highlight>
              </a:rPr>
              <a:t>;                               </a:t>
            </a:r>
            <a:r>
              <a:rPr lang="es">
                <a:solidFill>
                  <a:srgbClr val="008000"/>
                </a:solidFill>
                <a:highlight>
                  <a:srgbClr val="FFFFFF"/>
                </a:highlight>
              </a:rPr>
              <a:t>// Number</a:t>
            </a:r>
            <a:endParaRPr>
              <a:solidFill>
                <a:srgbClr val="008000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000CD"/>
                </a:solidFill>
                <a:highlight>
                  <a:srgbClr val="FFFFFF"/>
                </a:highlight>
              </a:rPr>
              <a:t>let</a:t>
            </a:r>
            <a:r>
              <a:rPr lang="es">
                <a:highlight>
                  <a:srgbClr val="FFFFFF"/>
                </a:highlight>
              </a:rPr>
              <a:t> lastName = </a:t>
            </a:r>
            <a:r>
              <a:rPr lang="es">
                <a:solidFill>
                  <a:srgbClr val="A52A2A"/>
                </a:solidFill>
                <a:highlight>
                  <a:srgbClr val="FFFFFF"/>
                </a:highlight>
              </a:rPr>
              <a:t>"Johnson"</a:t>
            </a:r>
            <a:r>
              <a:rPr lang="es">
                <a:highlight>
                  <a:srgbClr val="FFFFFF"/>
                </a:highlight>
              </a:rPr>
              <a:t>;                      </a:t>
            </a:r>
            <a:r>
              <a:rPr lang="es">
                <a:solidFill>
                  <a:srgbClr val="008000"/>
                </a:solidFill>
                <a:highlight>
                  <a:srgbClr val="FFFFFF"/>
                </a:highlight>
              </a:rPr>
              <a:t>// String</a:t>
            </a:r>
            <a:endParaRPr>
              <a:solidFill>
                <a:srgbClr val="008000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">
                <a:solidFill>
                  <a:srgbClr val="0000CD"/>
                </a:solidFill>
                <a:highlight>
                  <a:srgbClr val="FFFFFF"/>
                </a:highlight>
              </a:rPr>
              <a:t>let</a:t>
            </a:r>
            <a:r>
              <a:rPr lang="es">
                <a:highlight>
                  <a:srgbClr val="FFFFFF"/>
                </a:highlight>
              </a:rPr>
              <a:t> x = {firstName:</a:t>
            </a:r>
            <a:r>
              <a:rPr lang="es">
                <a:solidFill>
                  <a:srgbClr val="A52A2A"/>
                </a:solidFill>
                <a:highlight>
                  <a:srgbClr val="FFFFFF"/>
                </a:highlight>
              </a:rPr>
              <a:t>"John"</a:t>
            </a:r>
            <a:r>
              <a:rPr lang="es">
                <a:highlight>
                  <a:srgbClr val="FFFFFF"/>
                </a:highlight>
              </a:rPr>
              <a:t>, lastName:</a:t>
            </a:r>
            <a:r>
              <a:rPr lang="es">
                <a:solidFill>
                  <a:srgbClr val="A52A2A"/>
                </a:solidFill>
                <a:highlight>
                  <a:srgbClr val="FFFFFF"/>
                </a:highlight>
              </a:rPr>
              <a:t>"Doe"</a:t>
            </a:r>
            <a:r>
              <a:rPr lang="es">
                <a:highlight>
                  <a:srgbClr val="FFFFFF"/>
                </a:highlight>
              </a:rPr>
              <a:t>};    </a:t>
            </a:r>
            <a:r>
              <a:rPr lang="es">
                <a:solidFill>
                  <a:srgbClr val="008000"/>
                </a:solidFill>
                <a:highlight>
                  <a:srgbClr val="FFFFFF"/>
                </a:highlight>
              </a:rPr>
              <a:t>// Object</a:t>
            </a:r>
            <a:endParaRPr/>
          </a:p>
        </p:txBody>
      </p:sp>
      <p:sp>
        <p:nvSpPr>
          <p:cNvPr id="260" name="Google Shape;260;p38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Tipos de Datos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JavaScript tiene tipos de datos dinámicos.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Esto significa que la misma variable se puede utilizar para contener diferentes tipos de datos: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let x; 		</a:t>
            </a:r>
            <a:r>
              <a:rPr lang="es">
                <a:solidFill>
                  <a:srgbClr val="999999"/>
                </a:solidFill>
              </a:rPr>
              <a:t>//Ahora x no está definido</a:t>
            </a:r>
            <a:endParaRPr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x = 5;</a:t>
            </a:r>
            <a:r>
              <a:rPr lang="es"/>
              <a:t> 		</a:t>
            </a:r>
            <a:r>
              <a:rPr lang="es">
                <a:solidFill>
                  <a:srgbClr val="999999"/>
                </a:solidFill>
              </a:rPr>
              <a:t>//Ahora x es un número</a:t>
            </a:r>
            <a:endParaRPr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">
                <a:solidFill>
                  <a:schemeClr val="dk1"/>
                </a:solidFill>
              </a:rPr>
              <a:t>x = "Juan"; </a:t>
            </a:r>
            <a:r>
              <a:rPr lang="es">
                <a:solidFill>
                  <a:srgbClr val="999999"/>
                </a:solidFill>
              </a:rPr>
              <a:t>//Ahora x es una cadena</a:t>
            </a:r>
            <a:endParaRPr>
              <a:solidFill>
                <a:srgbClr val="999999"/>
              </a:solidFill>
            </a:endParaRPr>
          </a:p>
        </p:txBody>
      </p:sp>
      <p:sp>
        <p:nvSpPr>
          <p:cNvPr id="266" name="Google Shape;266;p39"/>
          <p:cNvSpPr txBox="1"/>
          <p:nvPr>
            <p:ph type="title"/>
          </p:nvPr>
        </p:nvSpPr>
        <p:spPr>
          <a:xfrm>
            <a:off x="1443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Tipos de Datos son Dinámicos</a:t>
            </a:r>
            <a:endParaRPr/>
          </a:p>
        </p:txBody>
      </p:sp>
      <p:sp>
        <p:nvSpPr>
          <p:cNvPr id="267" name="Google Shape;267;p39"/>
          <p:cNvSpPr txBox="1"/>
          <p:nvPr/>
        </p:nvSpPr>
        <p:spPr>
          <a:xfrm>
            <a:off x="68927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0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Retorna el tipo de dato una variable de JavaScript.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typeof </a:t>
            </a:r>
            <a:r>
              <a:rPr lang="es">
                <a:solidFill>
                  <a:schemeClr val="accent3"/>
                </a:solidFill>
              </a:rPr>
              <a:t>"John"</a:t>
            </a:r>
            <a:r>
              <a:rPr lang="es"/>
              <a:t> 	</a:t>
            </a:r>
            <a:r>
              <a:rPr lang="es">
                <a:solidFill>
                  <a:srgbClr val="888888"/>
                </a:solidFill>
              </a:rPr>
              <a:t>// Devuelve "string"</a:t>
            </a:r>
            <a:endParaRPr>
              <a:solidFill>
                <a:srgbClr val="888888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typeof 555     		</a:t>
            </a:r>
            <a:r>
              <a:rPr lang="es">
                <a:solidFill>
                  <a:schemeClr val="lt2"/>
                </a:solidFill>
              </a:rPr>
              <a:t>// Devuelve "number"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0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 Operador: </a:t>
            </a:r>
            <a:r>
              <a:rPr lang="es">
                <a:solidFill>
                  <a:schemeClr val="accent5"/>
                </a:solidFill>
              </a:rPr>
              <a:t>typeoff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4" name="Google Shape;274;p40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1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Operadores de Asignación</a:t>
            </a:r>
            <a:endParaRPr/>
          </a:p>
        </p:txBody>
      </p:sp>
      <p:pic>
        <p:nvPicPr>
          <p:cNvPr id="280" name="Google Shape;28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450" y="983275"/>
            <a:ext cx="7217853" cy="416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2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Actividad: Implementar, comprender y personalizar el código en Visual Studio Code y compartir. (5 minutos)</a:t>
            </a:r>
            <a:endParaRPr/>
          </a:p>
          <a:p>
            <a:pPr indent="-381000" lvl="0" marL="457200" rtl="0" algn="l">
              <a:spcBef>
                <a:spcPts val="160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C</a:t>
            </a:r>
            <a:r>
              <a:rPr lang="es"/>
              <a:t>rear 1 archivo: tipos.html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Compartir el código! </a:t>
            </a:r>
            <a:r>
              <a:rPr lang="es">
                <a:solidFill>
                  <a:schemeClr val="accent6"/>
                </a:solidFill>
              </a:rPr>
              <a:t>que el script sea externo</a:t>
            </a:r>
            <a:br>
              <a:rPr lang="es"/>
            </a:br>
            <a:r>
              <a:rPr lang="es" u="sng">
                <a:solidFill>
                  <a:schemeClr val="hlink"/>
                </a:solidFill>
                <a:hlinkClick r:id="rId3"/>
              </a:rPr>
              <a:t>https://onecompiler.com/html/43gqdah6w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42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 5: Tipos de Datos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3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👉 </a:t>
            </a:r>
            <a:r>
              <a:rPr lang="es">
                <a:solidFill>
                  <a:srgbClr val="0F1115"/>
                </a:solidFill>
                <a:highlight>
                  <a:schemeClr val="lt1"/>
                </a:highlight>
              </a:rPr>
              <a:t>Es bloque de código que agrupa instrucciones para realizar una tarea específica. </a:t>
            </a:r>
            <a:endParaRPr>
              <a:solidFill>
                <a:srgbClr val="0F1115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F1115"/>
                </a:solidFill>
                <a:highlight>
                  <a:schemeClr val="lt1"/>
                </a:highlight>
              </a:rPr>
              <a:t>La defines una vez y luego la puedes usar (invocar) cuando quieras, las veces que quieras.</a:t>
            </a:r>
            <a:endParaRPr>
              <a:solidFill>
                <a:srgbClr val="0F1115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👉Es como una receta: le das un nombre, defines los pasos (código) y luego la puedes usar cada vez que quieras.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43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¿Qué es una Función?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43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4"/>
          <p:cNvSpPr txBox="1"/>
          <p:nvPr>
            <p:ph idx="1" type="body"/>
          </p:nvPr>
        </p:nvSpPr>
        <p:spPr>
          <a:xfrm>
            <a:off x="311700" y="1138175"/>
            <a:ext cx="88323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 código dentro de la función se ejecutará cuando "algo" invoque (llame) a la función:</a:t>
            </a:r>
            <a:endParaRPr/>
          </a:p>
          <a:p>
            <a:pPr indent="-381000" lvl="0" marL="457200" rtl="0" algn="l">
              <a:spcBef>
                <a:spcPts val="160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Cuando ocurre un evento (un usuario hace clic en un botón)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Cuando se invoca (llama) desde código JavaScript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Automáticamente (auto invocado)</a:t>
            </a:r>
            <a:endParaRPr/>
          </a:p>
        </p:txBody>
      </p:sp>
      <p:sp>
        <p:nvSpPr>
          <p:cNvPr id="299" name="Google Shape;299;p44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Invocación de Función</a:t>
            </a:r>
            <a:endParaRPr/>
          </a:p>
        </p:txBody>
      </p:sp>
      <p:sp>
        <p:nvSpPr>
          <p:cNvPr id="300" name="Google Shape;300;p44"/>
          <p:cNvSpPr txBox="1"/>
          <p:nvPr/>
        </p:nvSpPr>
        <p:spPr>
          <a:xfrm>
            <a:off x="6664100" y="210775"/>
            <a:ext cx="2541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Probar el código:</a:t>
            </a:r>
            <a:br>
              <a:rPr lang="es">
                <a:latin typeface="Roboto"/>
                <a:ea typeface="Roboto"/>
                <a:cs typeface="Roboto"/>
                <a:sym typeface="Roboto"/>
              </a:rPr>
            </a:br>
            <a:r>
              <a:rPr lang="es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https://w3schools.com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5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Actividad: Implementar, comprender y personalizar el código en Visual Studio Code y compartir. (5 minutos)</a:t>
            </a:r>
            <a:endParaRPr/>
          </a:p>
          <a:p>
            <a:pPr indent="-381000" lvl="0" marL="457200" rtl="0" algn="l">
              <a:spcBef>
                <a:spcPts val="160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Abrir Visual Studio Code.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Crear 1 archivo: funciones.html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  </a:t>
            </a:r>
            <a:r>
              <a:rPr lang="es">
                <a:solidFill>
                  <a:schemeClr val="accent6"/>
                </a:solidFill>
              </a:rPr>
              <a:t>que el script sea externo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"/>
              <a:t>Compartir el código!</a:t>
            </a:r>
            <a:br>
              <a:rPr lang="es"/>
            </a:br>
            <a:r>
              <a:rPr lang="es" u="sng">
                <a:solidFill>
                  <a:schemeClr val="hlink"/>
                </a:solidFill>
                <a:hlinkClick r:id="rId3"/>
              </a:rPr>
              <a:t>https://onecompiler.com/html/438dtk4q9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45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 6: Funciones 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6"/>
          <p:cNvSpPr txBox="1"/>
          <p:nvPr>
            <p:ph idx="1" type="body"/>
          </p:nvPr>
        </p:nvSpPr>
        <p:spPr>
          <a:xfrm>
            <a:off x="311700" y="1138181"/>
            <a:ext cx="8520600" cy="34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Actividad: Implementar, comprender y personalizar el código en Visual Studio Code y compartir. (5 minutos)</a:t>
            </a:r>
            <a:endParaRPr/>
          </a:p>
          <a:p>
            <a:pPr indent="-381000" lvl="0" marL="457200" rtl="0" algn="l">
              <a:spcBef>
                <a:spcPts val="160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Abrir Visual Studio Code.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"/>
              <a:t>Crear 1 archivo: camara.html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/>
              <a:t>Realizar cambios y mejoras! </a:t>
            </a:r>
            <a:r>
              <a:rPr lang="es">
                <a:solidFill>
                  <a:srgbClr val="016CFF"/>
                </a:solidFill>
              </a:rPr>
              <a:t>Poner en colores</a:t>
            </a:r>
            <a:endParaRPr>
              <a:solidFill>
                <a:srgbClr val="016CFF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➔"/>
            </a:pPr>
            <a:r>
              <a:rPr lang="es" u="sng">
                <a:solidFill>
                  <a:schemeClr val="hlink"/>
                </a:solidFill>
                <a:hlinkClick r:id="rId3"/>
              </a:rPr>
              <a:t>https://onecompiler.com/html/44fd6k659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6"/>
          <p:cNvSpPr txBox="1"/>
          <p:nvPr>
            <p:ph type="title"/>
          </p:nvPr>
        </p:nvSpPr>
        <p:spPr>
          <a:xfrm>
            <a:off x="372950" y="192919"/>
            <a:ext cx="8636100" cy="65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Actividad 7: Acceder a la cámara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